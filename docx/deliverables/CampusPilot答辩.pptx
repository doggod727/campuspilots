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提交数</c:v>
          </c:tx>
          <c:spPr>
            <a:solidFill>
              <a:srgbClr val="173F35"/>
            </a:solidFill>
          </c:spPr>
          <c:dLbls>
            <c:txPr>
              <a:bodyPr/>
              <a:lstStyle/>
              <a:p>
                <a:pPr>
                  <a:defRPr sz="900" b="0" i="0" u="none" strike="noStrike">
                    <a:solidFill>
                      <a:srgbClr val="6A6F76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10"/>
              <c:pt idx="0">
                <c:v>07-14</c:v>
              </c:pt>
              <c:pt idx="1">
                <c:v>07-15</c:v>
              </c:pt>
              <c:pt idx="2">
                <c:v>07-16</c:v>
              </c:pt>
              <c:pt idx="3">
                <c:v>07-17</c:v>
              </c:pt>
              <c:pt idx="4">
                <c:v>07-18</c:v>
              </c:pt>
              <c:pt idx="5">
                <c:v>07-19</c:v>
              </c:pt>
              <c:pt idx="6">
                <c:v>07-21</c:v>
              </c:pt>
              <c:pt idx="7">
                <c:v>07-22</c:v>
              </c:pt>
              <c:pt idx="8">
                <c:v>07-24</c:v>
              </c:pt>
              <c:pt idx="9">
                <c:v>07-25</c:v>
              </c:pt>
            </c:strLit>
          </c:cat>
          <c:val>
            <c:numLit>
              <c:formatCode>General</c:formatCode>
              <c:ptCount val="10"/>
              <c:pt idx="0">
                <c:v>62</c:v>
              </c:pt>
              <c:pt idx="1">
                <c:v>73</c:v>
              </c:pt>
              <c:pt idx="2">
                <c:v>46</c:v>
              </c:pt>
              <c:pt idx="3">
                <c:v>14</c:v>
              </c:pt>
              <c:pt idx="4">
                <c:v>12</c:v>
              </c:pt>
              <c:pt idx="5">
                <c:v>2</c:v>
              </c:pt>
              <c:pt idx="6">
                <c:v>2</c:v>
              </c:pt>
              <c:pt idx="7">
                <c:v>8</c:v>
              </c:pt>
              <c:pt idx="8">
                <c:v>1</c:v>
              </c:pt>
              <c:pt idx="9">
                <c:v>2</c:v>
              </c:pt>
            </c:numLit>
          </c:val>
        </c:ser>
        <c:gapWidth val="67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DFDCD3"/>
            </a:solidFill>
          </a:ln>
        </c:spPr>
        <c:txPr>
          <a:bodyPr/>
          <a:lstStyle/>
          <a:p>
            <a:pPr>
              <a:defRPr sz="900" b="0" i="0" u="none" strike="noStrike">
                <a:solidFill>
                  <a:srgbClr val="6A6F76"/>
                </a:solidFill>
                <a:latin typeface="MiSans"/>
              </a:defRPr>
            </a:pPr>
            <a:endParaRPr lang="en-US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80"/>
          <c:min val="0"/>
        </c:scaling>
        <c:delete val="0"/>
        <c:axPos val="l"/>
        <c:majorGridlines>
          <c:spPr>
            <a:ln w="12700">
              <a:solidFill>
                <a:srgbClr val="E9E6DD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 i="0" u="none" strike="noStrike">
                <a:solidFill>
                  <a:srgbClr val="6A6F76"/>
                </a:solidFill>
                <a:latin typeface="MiSans"/>
              </a:defRPr>
            </a:pPr>
            <a:endParaRPr lang="en-US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>
          <a:latin typeface="MiSans"/>
          <a:ea typeface="MiSans"/>
        </a:defRPr>
      </a:pPr>
      <a:endParaRPr/>
    </a:p>
  </c:tx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Chart1" Type="http://schemas.openxmlformats.org/officeDocument/2006/relationships/chart" Target="../charts/char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" Type="http://schemas.openxmlformats.org/officeDocument/2006/relationships/image" Target="../media/image1.png"/><Relationship Id="rIdImage2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3" Type="http://schemas.openxmlformats.org/officeDocument/2006/relationships/image" Target="../media/image3.png"/><Relationship Id="rIdImage4" Type="http://schemas.openxmlformats.org/officeDocument/2006/relationships/image" Target="../media/image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block"/>
          <p:cNvSpPr/>
          <p:nvPr/>
        </p:nvSpPr>
        <p:spPr>
          <a:xfrm>
            <a:off x="7874000" y="0"/>
            <a:ext cx="4318000" cy="68580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3" name="stat1-num"/>
          <p:cNvSpPr txBox="1"/>
          <p:nvPr/>
        </p:nvSpPr>
        <p:spPr>
          <a:xfrm>
            <a:off x="8432800" y="12192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FFFFFF"/>
                </a:solidFill>
                <a:latin typeface="Liter"/>
                <a:ea typeface="Liter"/>
              </a:rPr>
              <a:t>222</a:t>
            </a:r>
            <a:endParaRPr lang="en-US" sz="1600"/>
          </a:p>
        </p:txBody>
      </p:sp>
      <p:sp>
        <p:nvSpPr>
          <p:cNvPr id="4" name="stat1-label"/>
          <p:cNvSpPr txBox="1"/>
          <p:nvPr/>
        </p:nvSpPr>
        <p:spPr>
          <a:xfrm>
            <a:off x="8432800" y="17526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Git 提交（12 天）</a:t>
            </a:r>
            <a:endParaRPr lang="en-US" sz="1200"/>
          </a:p>
        </p:txBody>
      </p:sp>
      <p:sp>
        <p:nvSpPr>
          <p:cNvPr id="5" name="stat-div1"/>
          <p:cNvSpPr/>
          <p:nvPr/>
        </p:nvSpPr>
        <p:spPr>
          <a:xfrm>
            <a:off x="8432800" y="2184400"/>
            <a:ext cx="2540000" cy="12700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</p:sp>
      <p:sp>
        <p:nvSpPr>
          <p:cNvPr id="6" name="stat2-num"/>
          <p:cNvSpPr txBox="1"/>
          <p:nvPr/>
        </p:nvSpPr>
        <p:spPr>
          <a:xfrm>
            <a:off x="8432800" y="24384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FFFFFF"/>
                </a:solidFill>
                <a:latin typeface="Liter"/>
                <a:ea typeface="Liter"/>
              </a:rPr>
              <a:t>809</a:t>
            </a:r>
            <a:endParaRPr lang="en-US" sz="1600"/>
          </a:p>
        </p:txBody>
      </p:sp>
      <p:sp>
        <p:nvSpPr>
          <p:cNvPr id="7" name="stat2-label"/>
          <p:cNvSpPr txBox="1"/>
          <p:nvPr/>
        </p:nvSpPr>
        <p:spPr>
          <a:xfrm>
            <a:off x="8432800" y="29718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后端测试全部通过</a:t>
            </a:r>
            <a:endParaRPr lang="en-US" sz="1200"/>
          </a:p>
        </p:txBody>
      </p:sp>
      <p:sp>
        <p:nvSpPr>
          <p:cNvPr id="8" name="stat-div2"/>
          <p:cNvSpPr/>
          <p:nvPr/>
        </p:nvSpPr>
        <p:spPr>
          <a:xfrm>
            <a:off x="8432800" y="3403600"/>
            <a:ext cx="2540000" cy="12700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</p:sp>
      <p:sp>
        <p:nvSpPr>
          <p:cNvPr id="9" name="stat3-num"/>
          <p:cNvSpPr txBox="1"/>
          <p:nvPr/>
        </p:nvSpPr>
        <p:spPr>
          <a:xfrm>
            <a:off x="8432800" y="36576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FFFFFF"/>
                </a:solidFill>
                <a:latin typeface="Liter"/>
                <a:ea typeface="Liter"/>
              </a:rPr>
              <a:t>136</a:t>
            </a:r>
            <a:endParaRPr lang="en-US" sz="1600"/>
          </a:p>
        </p:txBody>
      </p:sp>
      <p:sp>
        <p:nvSpPr>
          <p:cNvPr id="10" name="stat3-label"/>
          <p:cNvSpPr txBox="1"/>
          <p:nvPr/>
        </p:nvSpPr>
        <p:spPr>
          <a:xfrm>
            <a:off x="8432800" y="4191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OpenAPI 契约操作</a:t>
            </a:r>
            <a:endParaRPr lang="en-US" sz="1200"/>
          </a:p>
        </p:txBody>
      </p:sp>
      <p:sp>
        <p:nvSpPr>
          <p:cNvPr id="11" name="stat-div3"/>
          <p:cNvSpPr/>
          <p:nvPr/>
        </p:nvSpPr>
        <p:spPr>
          <a:xfrm>
            <a:off x="8432800" y="4622800"/>
            <a:ext cx="2540000" cy="12700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</p:sp>
      <p:sp>
        <p:nvSpPr>
          <p:cNvPr id="12" name="stat4-num"/>
          <p:cNvSpPr txBox="1"/>
          <p:nvPr/>
        </p:nvSpPr>
        <p:spPr>
          <a:xfrm>
            <a:off x="8432800" y="48768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FFFFFF"/>
                </a:solidFill>
                <a:latin typeface="Liter"/>
                <a:ea typeface="Liter"/>
              </a:rPr>
              <a:t>17</a:t>
            </a:r>
            <a:endParaRPr lang="en-US" sz="1600"/>
          </a:p>
        </p:txBody>
      </p:sp>
      <p:sp>
        <p:nvSpPr>
          <p:cNvPr id="13" name="stat4-label"/>
          <p:cNvSpPr txBox="1"/>
          <p:nvPr/>
        </p:nvSpPr>
        <p:spPr>
          <a:xfrm>
            <a:off x="8432800" y="54102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真实业务工具适配器</a:t>
            </a:r>
            <a:endParaRPr lang="en-US" sz="1200"/>
          </a:p>
        </p:txBody>
      </p:sp>
      <p:sp>
        <p:nvSpPr>
          <p:cNvPr id="14" name="kicker"/>
          <p:cNvSpPr txBox="1"/>
          <p:nvPr/>
        </p:nvSpPr>
        <p:spPr>
          <a:xfrm>
            <a:off x="812800" y="175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173F35"/>
                </a:solidFill>
                <a:latin typeface="Liter"/>
                <a:ea typeface="Liter"/>
              </a:rPr>
              <a:t>软件工程课程 · 项目答辩</a:t>
            </a:r>
            <a:endParaRPr lang="en-US" sz="1200"/>
          </a:p>
        </p:txBody>
      </p:sp>
      <p:sp>
        <p:nvSpPr>
          <p:cNvPr id="15" name="main-title"/>
          <p:cNvSpPr txBox="1"/>
          <p:nvPr/>
        </p:nvSpPr>
        <p:spPr>
          <a:xfrm>
            <a:off x="787400" y="20828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5400" b="1">
                <a:solidFill>
                  <a:srgbClr val="1C1F24"/>
                </a:solidFill>
                <a:latin typeface="思源宋体"/>
                <a:ea typeface="思源宋体"/>
              </a:rPr>
              <a:t>CampusPilot</a:t>
            </a:r>
            <a:endParaRPr lang="en-US" sz="1600"/>
          </a:p>
        </p:txBody>
      </p:sp>
      <p:sp>
        <p:nvSpPr>
          <p:cNvPr id="16" name="sub-title"/>
          <p:cNvSpPr txBox="1"/>
          <p:nvPr/>
        </p:nvSpPr>
        <p:spPr>
          <a:xfrm>
            <a:off x="812800" y="30988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3A3E44"/>
                </a:solidFill>
                <a:latin typeface="MiSans"/>
                <a:ea typeface="MiSans"/>
              </a:rPr>
              <a:t>学生生活一站式社区 AI 助手</a:t>
            </a:r>
            <a:endParaRPr lang="en-US" sz="1600"/>
          </a:p>
        </p:txBody>
      </p:sp>
      <p:sp>
        <p:nvSpPr>
          <p:cNvPr id="17" name="title-bar"/>
          <p:cNvSpPr/>
          <p:nvPr/>
        </p:nvSpPr>
        <p:spPr>
          <a:xfrm>
            <a:off x="812800" y="3708400"/>
            <a:ext cx="711200" cy="508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18" name="intro"/>
          <p:cNvSpPr txBox="1"/>
          <p:nvPr/>
        </p:nvSpPr>
        <p:spPr>
          <a:xfrm>
            <a:off x="812800" y="398780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5000"/>
              </a:lnSpc>
            </a:pPr>
            <a:r>
              <a:rPr lang="en-US" sz="1350">
                <a:solidFill>
                  <a:srgbClr val="6A6F76"/>
                </a:solidFill>
                <a:latin typeface="MiSans"/>
                <a:ea typeface="MiSans"/>
              </a:rPr>
              <a:t>面向学生的一站式校园服务平台：校园服务办事、社区互助、知识库问答与多智能体能力，在一个入口闭环。</a:t>
            </a:r>
            <a:endParaRPr lang="en-US" sz="1350"/>
          </a:p>
        </p:txBody>
      </p:sp>
      <p:sp>
        <p:nvSpPr>
          <p:cNvPr id="19" name="meta1"/>
          <p:cNvSpPr txBox="1"/>
          <p:nvPr/>
        </p:nvSpPr>
        <p:spPr>
          <a:xfrm>
            <a:off x="812800" y="56642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1C1F24"/>
                </a:solidFill>
                <a:latin typeface="MiSans"/>
                <a:ea typeface="MiSans"/>
              </a:rPr>
              <a:t>小组成员：覃焓 · 张讯毓 · 王一林 · 李欢</a:t>
            </a:r>
            <a:endParaRPr lang="en-US" sz="1300"/>
          </a:p>
        </p:txBody>
      </p:sp>
      <p:sp>
        <p:nvSpPr>
          <p:cNvPr id="20" name="meta2"/>
          <p:cNvSpPr txBox="1"/>
          <p:nvPr/>
        </p:nvSpPr>
        <p:spPr>
          <a:xfrm>
            <a:off x="812800" y="59944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1C1F24"/>
                </a:solidFill>
                <a:latin typeface="MiSans"/>
                <a:ea typeface="MiSans"/>
              </a:rPr>
              <a:t>指导教师：</a:t>
            </a:r>
            <a:r>
              <a:rPr lang="en-US" sz="1300">
                <a:solidFill>
                  <a:srgbClr val="C2562F"/>
                </a:solidFill>
                <a:latin typeface="MiSans"/>
                <a:ea typeface="MiSans"/>
              </a:rPr>
              <a:t>XXX（请填写）</a:t>
            </a:r>
            <a:r>
              <a:rPr lang="en-US" sz="1300">
                <a:solidFill>
                  <a:srgbClr val="1C1F24"/>
                </a:solidFill>
                <a:latin typeface="MiSans"/>
                <a:ea typeface="MiSans"/>
              </a:rPr>
              <a:t>　　汇报人：</a:t>
            </a:r>
            <a:r>
              <a:rPr lang="en-US" sz="1300">
                <a:solidFill>
                  <a:srgbClr val="C2562F"/>
                </a:solidFill>
                <a:latin typeface="MiSans"/>
                <a:ea typeface="MiSans"/>
              </a:rPr>
              <a:t>XXX</a:t>
            </a:r>
            <a:endParaRPr lang="en-US" sz="1300"/>
          </a:p>
        </p:txBody>
      </p:sp>
      <p:sp>
        <p:nvSpPr>
          <p:cNvPr id="21" name="meta3"/>
          <p:cNvSpPr txBox="1"/>
          <p:nvPr/>
        </p:nvSpPr>
        <p:spPr>
          <a:xfrm>
            <a:off x="8128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2026 年 7 月</a:t>
            </a:r>
            <a:endParaRPr lang="en-US" sz="115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big"/>
          <p:cNvSpPr txBox="1"/>
          <p:nvPr/>
        </p:nvSpPr>
        <p:spPr>
          <a:xfrm>
            <a:off x="812800" y="1905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4600" b="1">
                <a:solidFill>
                  <a:srgbClr val="1C1F24"/>
                </a:solidFill>
                <a:latin typeface="思源宋体"/>
                <a:ea typeface="思源宋体"/>
              </a:rPr>
              <a:t>目录</a:t>
            </a:r>
            <a:endParaRPr lang="en-US" sz="1600"/>
          </a:p>
        </p:txBody>
      </p:sp>
      <p:sp>
        <p:nvSpPr>
          <p:cNvPr id="3" name="toc-en"/>
          <p:cNvSpPr txBox="1"/>
          <p:nvPr/>
        </p:nvSpPr>
        <p:spPr>
          <a:xfrm>
            <a:off x="838200" y="2717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6A6F76"/>
                </a:solidFill>
                <a:latin typeface="Liter"/>
                <a:ea typeface="Liter"/>
              </a:rPr>
              <a:t>CONTENTS</a:t>
            </a:r>
            <a:endParaRPr lang="en-US" sz="1200"/>
          </a:p>
        </p:txBody>
      </p:sp>
      <p:sp>
        <p:nvSpPr>
          <p:cNvPr id="4" name="toc-bar"/>
          <p:cNvSpPr/>
          <p:nvPr/>
        </p:nvSpPr>
        <p:spPr>
          <a:xfrm>
            <a:off x="838200" y="3124200"/>
            <a:ext cx="558800" cy="381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5" name="toc-note"/>
          <p:cNvSpPr txBox="1"/>
          <p:nvPr/>
        </p:nvSpPr>
        <p:spPr>
          <a:xfrm>
            <a:off x="812800" y="53340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从「为什么做」到「做得怎么样」：项目定位 → 分工与技术 → 架构与机制 → 过程与成果 → 反思与展望。</a:t>
            </a:r>
            <a:endParaRPr lang="en-US" sz="1150"/>
          </a:p>
        </p:txBody>
      </p:sp>
      <p:sp>
        <p:nvSpPr>
          <p:cNvPr id="6" name="t1n"/>
          <p:cNvSpPr txBox="1"/>
          <p:nvPr/>
        </p:nvSpPr>
        <p:spPr>
          <a:xfrm>
            <a:off x="5969000" y="11684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01</a:t>
            </a:r>
            <a:endParaRPr lang="en-US" sz="1600"/>
          </a:p>
        </p:txBody>
      </p:sp>
      <p:sp>
        <p:nvSpPr>
          <p:cNvPr id="7" name="t1t"/>
          <p:cNvSpPr txBox="1"/>
          <p:nvPr/>
        </p:nvSpPr>
        <p:spPr>
          <a:xfrm>
            <a:off x="6858000" y="11938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1C1F24"/>
                </a:solidFill>
                <a:latin typeface="MiSans"/>
                <a:ea typeface="MiSans"/>
              </a:rPr>
              <a:t>项目介绍：定位与能力域</a:t>
            </a:r>
            <a:endParaRPr lang="en-US" sz="1700"/>
          </a:p>
        </p:txBody>
      </p:sp>
      <p:sp>
        <p:nvSpPr>
          <p:cNvPr id="8" name="t1l"/>
          <p:cNvSpPr/>
          <p:nvPr/>
        </p:nvSpPr>
        <p:spPr>
          <a:xfrm>
            <a:off x="5969000" y="1651000"/>
            <a:ext cx="5080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9" name="t2n"/>
          <p:cNvSpPr txBox="1"/>
          <p:nvPr/>
        </p:nvSpPr>
        <p:spPr>
          <a:xfrm>
            <a:off x="5969000" y="18034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02</a:t>
            </a:r>
            <a:endParaRPr lang="en-US" sz="1600"/>
          </a:p>
        </p:txBody>
      </p:sp>
      <p:sp>
        <p:nvSpPr>
          <p:cNvPr id="10" name="t2t"/>
          <p:cNvSpPr txBox="1"/>
          <p:nvPr/>
        </p:nvSpPr>
        <p:spPr>
          <a:xfrm>
            <a:off x="6858000" y="18288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1C1F24"/>
                </a:solidFill>
                <a:latin typeface="MiSans"/>
                <a:ea typeface="MiSans"/>
              </a:rPr>
              <a:t>成员分工与协作机制</a:t>
            </a:r>
            <a:endParaRPr lang="en-US" sz="1700"/>
          </a:p>
        </p:txBody>
      </p:sp>
      <p:sp>
        <p:nvSpPr>
          <p:cNvPr id="11" name="t2l"/>
          <p:cNvSpPr/>
          <p:nvPr/>
        </p:nvSpPr>
        <p:spPr>
          <a:xfrm>
            <a:off x="5969000" y="2286000"/>
            <a:ext cx="5080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2" name="t3n"/>
          <p:cNvSpPr txBox="1"/>
          <p:nvPr/>
        </p:nvSpPr>
        <p:spPr>
          <a:xfrm>
            <a:off x="5969000" y="24384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03</a:t>
            </a:r>
            <a:endParaRPr lang="en-US" sz="1600"/>
          </a:p>
        </p:txBody>
      </p:sp>
      <p:sp>
        <p:nvSpPr>
          <p:cNvPr id="13" name="t3t"/>
          <p:cNvSpPr txBox="1"/>
          <p:nvPr/>
        </p:nvSpPr>
        <p:spPr>
          <a:xfrm>
            <a:off x="6858000" y="24638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1C1F24"/>
                </a:solidFill>
                <a:latin typeface="MiSans"/>
                <a:ea typeface="MiSans"/>
              </a:rPr>
              <a:t>技术选型与理由</a:t>
            </a:r>
            <a:endParaRPr lang="en-US" sz="1700"/>
          </a:p>
        </p:txBody>
      </p:sp>
      <p:sp>
        <p:nvSpPr>
          <p:cNvPr id="14" name="t3l"/>
          <p:cNvSpPr/>
          <p:nvPr/>
        </p:nvSpPr>
        <p:spPr>
          <a:xfrm>
            <a:off x="5969000" y="2921000"/>
            <a:ext cx="5080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5" name="t4n"/>
          <p:cNvSpPr txBox="1"/>
          <p:nvPr/>
        </p:nvSpPr>
        <p:spPr>
          <a:xfrm>
            <a:off x="5969000" y="30734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04</a:t>
            </a:r>
            <a:endParaRPr lang="en-US" sz="1600"/>
          </a:p>
        </p:txBody>
      </p:sp>
      <p:sp>
        <p:nvSpPr>
          <p:cNvPr id="16" name="t4t"/>
          <p:cNvSpPr txBox="1"/>
          <p:nvPr/>
        </p:nvSpPr>
        <p:spPr>
          <a:xfrm>
            <a:off x="6858000" y="30988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1C1F24"/>
                </a:solidFill>
                <a:latin typeface="MiSans"/>
                <a:ea typeface="MiSans"/>
              </a:rPr>
              <a:t>系统架构与核心机制</a:t>
            </a:r>
            <a:endParaRPr lang="en-US" sz="1700"/>
          </a:p>
        </p:txBody>
      </p:sp>
      <p:sp>
        <p:nvSpPr>
          <p:cNvPr id="17" name="t4l"/>
          <p:cNvSpPr/>
          <p:nvPr/>
        </p:nvSpPr>
        <p:spPr>
          <a:xfrm>
            <a:off x="5969000" y="3556000"/>
            <a:ext cx="5080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8" name="t5n"/>
          <p:cNvSpPr txBox="1"/>
          <p:nvPr/>
        </p:nvSpPr>
        <p:spPr>
          <a:xfrm>
            <a:off x="5969000" y="37084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05</a:t>
            </a:r>
            <a:endParaRPr lang="en-US" sz="1600"/>
          </a:p>
        </p:txBody>
      </p:sp>
      <p:sp>
        <p:nvSpPr>
          <p:cNvPr id="19" name="t5t"/>
          <p:cNvSpPr txBox="1"/>
          <p:nvPr/>
        </p:nvSpPr>
        <p:spPr>
          <a:xfrm>
            <a:off x="6858000" y="37338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1C1F24"/>
                </a:solidFill>
                <a:latin typeface="MiSans"/>
                <a:ea typeface="MiSans"/>
              </a:rPr>
              <a:t>研发过程与 Git 实践</a:t>
            </a:r>
            <a:endParaRPr lang="en-US" sz="1700"/>
          </a:p>
        </p:txBody>
      </p:sp>
      <p:sp>
        <p:nvSpPr>
          <p:cNvPr id="20" name="t5l"/>
          <p:cNvSpPr/>
          <p:nvPr/>
        </p:nvSpPr>
        <p:spPr>
          <a:xfrm>
            <a:off x="5969000" y="4191000"/>
            <a:ext cx="5080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21" name="t6n"/>
          <p:cNvSpPr txBox="1"/>
          <p:nvPr/>
        </p:nvSpPr>
        <p:spPr>
          <a:xfrm>
            <a:off x="5969000" y="43434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06</a:t>
            </a:r>
            <a:endParaRPr lang="en-US" sz="1600"/>
          </a:p>
        </p:txBody>
      </p:sp>
      <p:sp>
        <p:nvSpPr>
          <p:cNvPr id="22" name="t6t"/>
          <p:cNvSpPr txBox="1"/>
          <p:nvPr/>
        </p:nvSpPr>
        <p:spPr>
          <a:xfrm>
            <a:off x="6858000" y="43688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1C1F24"/>
                </a:solidFill>
                <a:latin typeface="MiSans"/>
                <a:ea typeface="MiSans"/>
              </a:rPr>
              <a:t>项目展示（界面截图）</a:t>
            </a:r>
            <a:endParaRPr lang="en-US" sz="1700"/>
          </a:p>
        </p:txBody>
      </p:sp>
      <p:sp>
        <p:nvSpPr>
          <p:cNvPr id="23" name="t6l"/>
          <p:cNvSpPr/>
          <p:nvPr/>
        </p:nvSpPr>
        <p:spPr>
          <a:xfrm>
            <a:off x="5969000" y="4826000"/>
            <a:ext cx="5080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24" name="t7n"/>
          <p:cNvSpPr txBox="1"/>
          <p:nvPr/>
        </p:nvSpPr>
        <p:spPr>
          <a:xfrm>
            <a:off x="5969000" y="49784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07</a:t>
            </a:r>
            <a:endParaRPr lang="en-US" sz="1600"/>
          </a:p>
        </p:txBody>
      </p:sp>
      <p:sp>
        <p:nvSpPr>
          <p:cNvPr id="25" name="t7t"/>
          <p:cNvSpPr txBox="1"/>
          <p:nvPr/>
        </p:nvSpPr>
        <p:spPr>
          <a:xfrm>
            <a:off x="6858000" y="50038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1C1F24"/>
                </a:solidFill>
                <a:latin typeface="MiSans"/>
                <a:ea typeface="MiSans"/>
              </a:rPr>
              <a:t>测试与质量保障</a:t>
            </a:r>
            <a:endParaRPr lang="en-US" sz="1700"/>
          </a:p>
        </p:txBody>
      </p:sp>
      <p:sp>
        <p:nvSpPr>
          <p:cNvPr id="26" name="t7l"/>
          <p:cNvSpPr/>
          <p:nvPr/>
        </p:nvSpPr>
        <p:spPr>
          <a:xfrm>
            <a:off x="5969000" y="5461000"/>
            <a:ext cx="5080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27" name="t8n"/>
          <p:cNvSpPr txBox="1"/>
          <p:nvPr/>
        </p:nvSpPr>
        <p:spPr>
          <a:xfrm>
            <a:off x="5969000" y="56134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08</a:t>
            </a:r>
            <a:endParaRPr lang="en-US" sz="1600"/>
          </a:p>
        </p:txBody>
      </p:sp>
      <p:sp>
        <p:nvSpPr>
          <p:cNvPr id="28" name="t8t"/>
          <p:cNvSpPr txBox="1"/>
          <p:nvPr/>
        </p:nvSpPr>
        <p:spPr>
          <a:xfrm>
            <a:off x="6858000" y="56388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1C1F24"/>
                </a:solidFill>
                <a:latin typeface="MiSans"/>
                <a:ea typeface="MiSans"/>
              </a:rPr>
              <a:t>亮点 · 不足 · 展望</a:t>
            </a:r>
            <a:endParaRPr lang="en-US" sz="1700"/>
          </a:p>
        </p:txBody>
      </p:sp>
      <p:sp>
        <p:nvSpPr>
          <p:cNvPr id="29" name="foot-left"/>
          <p:cNvSpPr txBox="1"/>
          <p:nvPr/>
        </p:nvSpPr>
        <p:spPr>
          <a:xfrm>
            <a:off x="8128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CampusPilot · 软件工程课程答辩</a:t>
            </a:r>
            <a:endParaRPr lang="en-US" sz="950"/>
          </a:p>
        </p:txBody>
      </p:sp>
      <p:sp>
        <p:nvSpPr>
          <p:cNvPr id="30" name="foot-page"/>
          <p:cNvSpPr txBox="1"/>
          <p:nvPr/>
        </p:nvSpPr>
        <p:spPr>
          <a:xfrm>
            <a:off x="10414000" y="65278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02 / 14</a:t>
            </a:r>
            <a:endParaRPr lang="en-US" sz="95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173F35"/>
                </a:solidFill>
                <a:latin typeface="Liter"/>
                <a:ea typeface="Liter"/>
              </a:rPr>
              <a:t>01 · 项目介绍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C1F24"/>
                </a:solidFill>
                <a:latin typeface="MiSans"/>
                <a:ea typeface="MiSans"/>
              </a:rPr>
              <a:t>一站式校园：服务、社区与 AI 能力在同一平台闭环</a:t>
            </a:r>
            <a:endParaRPr lang="en-US" sz="2800"/>
          </a:p>
        </p:txBody>
      </p:sp>
      <p:sp>
        <p:nvSpPr>
          <p:cNvPr id="4" name="title-bar"/>
          <p:cNvSpPr/>
          <p:nvPr/>
        </p:nvSpPr>
        <p:spPr>
          <a:xfrm>
            <a:off x="812800" y="1473200"/>
            <a:ext cx="558800" cy="381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5" name="title-line"/>
          <p:cNvSpPr/>
          <p:nvPr/>
        </p:nvSpPr>
        <p:spPr>
          <a:xfrm>
            <a:off x="812800" y="16002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6" name="b1-label"/>
          <p:cNvSpPr txBox="1"/>
          <p:nvPr/>
        </p:nvSpPr>
        <p:spPr>
          <a:xfrm>
            <a:off x="812800" y="1905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73F35"/>
                </a:solidFill>
                <a:latin typeface="MiSans"/>
                <a:ea typeface="MiSans"/>
              </a:rPr>
              <a:t>背景与痛点</a:t>
            </a:r>
            <a:endParaRPr lang="en-US" sz="1300"/>
          </a:p>
        </p:txBody>
      </p:sp>
      <p:sp>
        <p:nvSpPr>
          <p:cNvPr id="7" name="b1-text"/>
          <p:cNvSpPr txBox="1"/>
          <p:nvPr/>
        </p:nvSpPr>
        <p:spPr>
          <a:xfrm>
            <a:off x="812800" y="2184400"/>
            <a:ext cx="508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5000"/>
              </a:lnSpc>
            </a:pPr>
            <a:r>
              <a:rPr lang="en-US" sz="1300">
                <a:solidFill>
                  <a:srgbClr val="1C1F24"/>
                </a:solidFill>
                <a:latin typeface="MiSans"/>
                <a:ea typeface="MiSans"/>
              </a:rPr>
              <a:t>学生的校园生活分散在办事大厅、通知群、论坛与各类文件之间：办事流程不透明、互助信息难沉淀、制度文档难检索。</a:t>
            </a:r>
            <a:endParaRPr lang="en-US" sz="1300"/>
          </a:p>
        </p:txBody>
      </p:sp>
      <p:sp>
        <p:nvSpPr>
          <p:cNvPr id="8" name="b2-label"/>
          <p:cNvSpPr txBox="1"/>
          <p:nvPr/>
        </p:nvSpPr>
        <p:spPr>
          <a:xfrm>
            <a:off x="812800" y="3225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73F35"/>
                </a:solidFill>
                <a:latin typeface="MiSans"/>
                <a:ea typeface="MiSans"/>
              </a:rPr>
              <a:t>项目定位</a:t>
            </a:r>
            <a:endParaRPr lang="en-US" sz="1300"/>
          </a:p>
        </p:txBody>
      </p:sp>
      <p:sp>
        <p:nvSpPr>
          <p:cNvPr id="9" name="b2-text"/>
          <p:cNvSpPr txBox="1"/>
          <p:nvPr/>
        </p:nvSpPr>
        <p:spPr>
          <a:xfrm>
            <a:off x="812800" y="3505200"/>
            <a:ext cx="5080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5000"/>
              </a:lnSpc>
            </a:pPr>
            <a:r>
              <a:rPr lang="en-US" sz="1300">
                <a:solidFill>
                  <a:srgbClr val="1C1F24"/>
                </a:solidFill>
                <a:latin typeface="MiSans"/>
                <a:ea typeface="MiSans"/>
              </a:rPr>
              <a:t>CampusPilot 以「校园服务 + 社区互助 + AI 知识库 + 智能体平台」构建一站式平台：一个入口完成办事、问事与互助，并沉淀可复用的校园知识与数据资产。</a:t>
            </a:r>
            <a:endParaRPr lang="en-US" sz="1300"/>
          </a:p>
        </p:txBody>
      </p:sp>
      <p:sp>
        <p:nvSpPr>
          <p:cNvPr id="10" name="b3-label"/>
          <p:cNvSpPr txBox="1"/>
          <p:nvPr/>
        </p:nvSpPr>
        <p:spPr>
          <a:xfrm>
            <a:off x="812800" y="4826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73F35"/>
                </a:solidFill>
                <a:latin typeface="MiSans"/>
                <a:ea typeface="MiSans"/>
              </a:rPr>
              <a:t>演示数据来源</a:t>
            </a:r>
            <a:endParaRPr lang="en-US" sz="1300"/>
          </a:p>
        </p:txBody>
      </p:sp>
      <p:sp>
        <p:nvSpPr>
          <p:cNvPr id="11" name="b3-text"/>
          <p:cNvSpPr txBox="1"/>
          <p:nvPr/>
        </p:nvSpPr>
        <p:spPr>
          <a:xfrm>
            <a:off x="812800" y="5105400"/>
            <a:ext cx="508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5000"/>
              </a:lnSpc>
            </a:pPr>
            <a:r>
              <a:rPr lang="en-US" sz="1300">
                <a:solidFill>
                  <a:srgbClr val="1C1F24"/>
                </a:solidFill>
                <a:latin typeface="MiSans"/>
                <a:ea typeface="MiSans"/>
              </a:rPr>
              <a:t>校区、部门、服务指南取自四川大学官网公开快照（含溯源与哈希）；电费为明确标注的模拟数据，不涉及真实隐私。</a:t>
            </a:r>
            <a:endParaRPr lang="en-US" sz="1300"/>
          </a:p>
        </p:txBody>
      </p:sp>
      <p:sp>
        <p:nvSpPr>
          <p:cNvPr id="12" name="v-div"/>
          <p:cNvSpPr/>
          <p:nvPr/>
        </p:nvSpPr>
        <p:spPr>
          <a:xfrm>
            <a:off x="6337300" y="1905000"/>
            <a:ext cx="12700" cy="40640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3" name="m1-tag"/>
          <p:cNvSpPr txBox="1"/>
          <p:nvPr/>
        </p:nvSpPr>
        <p:spPr>
          <a:xfrm>
            <a:off x="6807200" y="19050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73F35"/>
                </a:solidFill>
                <a:latin typeface="Liter"/>
                <a:ea typeface="Liter"/>
              </a:rPr>
              <a:t>M1</a:t>
            </a:r>
            <a:endParaRPr lang="en-US" sz="1600"/>
          </a:p>
        </p:txBody>
      </p:sp>
      <p:sp>
        <p:nvSpPr>
          <p:cNvPr id="14" name="m1-title"/>
          <p:cNvSpPr txBox="1"/>
          <p:nvPr/>
        </p:nvSpPr>
        <p:spPr>
          <a:xfrm>
            <a:off x="7493000" y="1905000"/>
            <a:ext cx="3886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1F24"/>
                </a:solidFill>
                <a:latin typeface="MiSans"/>
                <a:ea typeface="MiSans"/>
              </a:rPr>
              <a:t>AI 与知识库</a:t>
            </a:r>
            <a:endParaRPr lang="en-US" sz="1400"/>
          </a:p>
        </p:txBody>
      </p:sp>
      <p:sp>
        <p:nvSpPr>
          <p:cNvPr id="15" name="m1-desc"/>
          <p:cNvSpPr txBox="1"/>
          <p:nvPr/>
        </p:nvSpPr>
        <p:spPr>
          <a:xfrm>
            <a:off x="7493000" y="2184400"/>
            <a:ext cx="388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知识文档全生命周期管理，授权 RAG 检索与 SSE 流式问答</a:t>
            </a:r>
            <a:endParaRPr lang="en-US" sz="1150"/>
          </a:p>
        </p:txBody>
      </p:sp>
      <p:sp>
        <p:nvSpPr>
          <p:cNvPr id="16" name="m1-line"/>
          <p:cNvSpPr/>
          <p:nvPr/>
        </p:nvSpPr>
        <p:spPr>
          <a:xfrm>
            <a:off x="6807200" y="2717800"/>
            <a:ext cx="4572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7" name="m2-tag"/>
          <p:cNvSpPr txBox="1"/>
          <p:nvPr/>
        </p:nvSpPr>
        <p:spPr>
          <a:xfrm>
            <a:off x="6807200" y="28702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73F35"/>
                </a:solidFill>
                <a:latin typeface="Liter"/>
                <a:ea typeface="Liter"/>
              </a:rPr>
              <a:t>M2</a:t>
            </a:r>
            <a:endParaRPr lang="en-US" sz="1600"/>
          </a:p>
        </p:txBody>
      </p:sp>
      <p:sp>
        <p:nvSpPr>
          <p:cNvPr id="18" name="m2-title"/>
          <p:cNvSpPr txBox="1"/>
          <p:nvPr/>
        </p:nvSpPr>
        <p:spPr>
          <a:xfrm>
            <a:off x="7493000" y="2870200"/>
            <a:ext cx="3886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1F24"/>
                </a:solidFill>
                <a:latin typeface="MiSans"/>
                <a:ea typeface="MiSans"/>
              </a:rPr>
              <a:t>校园服务中心</a:t>
            </a:r>
            <a:endParaRPr lang="en-US" sz="1400"/>
          </a:p>
        </p:txBody>
      </p:sp>
      <p:sp>
        <p:nvSpPr>
          <p:cNvPr id="19" name="m2-desc"/>
          <p:cNvSpPr txBox="1"/>
          <p:nvPr/>
        </p:nvSpPr>
        <p:spPr>
          <a:xfrm>
            <a:off x="7493000" y="3149600"/>
            <a:ext cx="388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部门与服务指南、工单状态机（乐观锁）、电费查询充值</a:t>
            </a:r>
            <a:endParaRPr lang="en-US" sz="1150"/>
          </a:p>
        </p:txBody>
      </p:sp>
      <p:sp>
        <p:nvSpPr>
          <p:cNvPr id="20" name="m2-line"/>
          <p:cNvSpPr/>
          <p:nvPr/>
        </p:nvSpPr>
        <p:spPr>
          <a:xfrm>
            <a:off x="6807200" y="3683000"/>
            <a:ext cx="4572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21" name="m3-tag"/>
          <p:cNvSpPr txBox="1"/>
          <p:nvPr/>
        </p:nvSpPr>
        <p:spPr>
          <a:xfrm>
            <a:off x="6807200" y="38354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73F35"/>
                </a:solidFill>
                <a:latin typeface="Liter"/>
                <a:ea typeface="Liter"/>
              </a:rPr>
              <a:t>M3</a:t>
            </a:r>
            <a:endParaRPr lang="en-US" sz="1600"/>
          </a:p>
        </p:txBody>
      </p:sp>
      <p:sp>
        <p:nvSpPr>
          <p:cNvPr id="22" name="m3-title"/>
          <p:cNvSpPr txBox="1"/>
          <p:nvPr/>
        </p:nvSpPr>
        <p:spPr>
          <a:xfrm>
            <a:off x="7493000" y="3835400"/>
            <a:ext cx="3886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1F24"/>
                </a:solidFill>
                <a:latin typeface="MiSans"/>
                <a:ea typeface="MiSans"/>
              </a:rPr>
              <a:t>校园社区互助</a:t>
            </a:r>
            <a:endParaRPr lang="en-US" sz="1400"/>
          </a:p>
        </p:txBody>
      </p:sp>
      <p:sp>
        <p:nvSpPr>
          <p:cNvPr id="23" name="m3-desc"/>
          <p:cNvSpPr txBox="1"/>
          <p:nvPr/>
        </p:nvSpPr>
        <p:spPr>
          <a:xfrm>
            <a:off x="7493000" y="4114800"/>
            <a:ext cx="388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话题帖子、活动报名、失物招领、匿名身份与内容审核</a:t>
            </a:r>
            <a:endParaRPr lang="en-US" sz="1150"/>
          </a:p>
        </p:txBody>
      </p:sp>
      <p:sp>
        <p:nvSpPr>
          <p:cNvPr id="24" name="m3-line"/>
          <p:cNvSpPr/>
          <p:nvPr/>
        </p:nvSpPr>
        <p:spPr>
          <a:xfrm>
            <a:off x="6807200" y="4648200"/>
            <a:ext cx="4572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25" name="m4-tag"/>
          <p:cNvSpPr txBox="1"/>
          <p:nvPr/>
        </p:nvSpPr>
        <p:spPr>
          <a:xfrm>
            <a:off x="6807200" y="48006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73F35"/>
                </a:solidFill>
                <a:latin typeface="Liter"/>
                <a:ea typeface="Liter"/>
              </a:rPr>
              <a:t>M4</a:t>
            </a:r>
            <a:endParaRPr lang="en-US" sz="1600"/>
          </a:p>
        </p:txBody>
      </p:sp>
      <p:sp>
        <p:nvSpPr>
          <p:cNvPr id="26" name="m4-title"/>
          <p:cNvSpPr txBox="1"/>
          <p:nvPr/>
        </p:nvSpPr>
        <p:spPr>
          <a:xfrm>
            <a:off x="7493000" y="4800600"/>
            <a:ext cx="3886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1F24"/>
                </a:solidFill>
                <a:latin typeface="MiSans"/>
                <a:ea typeface="MiSans"/>
              </a:rPr>
              <a:t>平台治理</a:t>
            </a:r>
            <a:endParaRPr lang="en-US" sz="1400"/>
          </a:p>
        </p:txBody>
      </p:sp>
      <p:sp>
        <p:nvSpPr>
          <p:cNvPr id="27" name="m4-desc"/>
          <p:cNvSpPr txBox="1"/>
          <p:nvPr/>
        </p:nvSpPr>
        <p:spPr>
          <a:xfrm>
            <a:off x="7493000" y="5080000"/>
            <a:ext cx="388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认证与 RBAC 权限、敏感词、审计日志、业务配置中心</a:t>
            </a:r>
            <a:endParaRPr lang="en-US" sz="1150"/>
          </a:p>
        </p:txBody>
      </p:sp>
      <p:sp>
        <p:nvSpPr>
          <p:cNvPr id="28" name="m4-line"/>
          <p:cNvSpPr/>
          <p:nvPr/>
        </p:nvSpPr>
        <p:spPr>
          <a:xfrm>
            <a:off x="6807200" y="5613400"/>
            <a:ext cx="4572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29" name="m5-tag"/>
          <p:cNvSpPr txBox="1"/>
          <p:nvPr/>
        </p:nvSpPr>
        <p:spPr>
          <a:xfrm>
            <a:off x="6807200" y="57658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73F35"/>
                </a:solidFill>
                <a:latin typeface="Liter"/>
                <a:ea typeface="Liter"/>
              </a:rPr>
              <a:t>M5</a:t>
            </a:r>
            <a:endParaRPr lang="en-US" sz="1600"/>
          </a:p>
        </p:txBody>
      </p:sp>
      <p:sp>
        <p:nvSpPr>
          <p:cNvPr id="30" name="m5-title"/>
          <p:cNvSpPr txBox="1"/>
          <p:nvPr/>
        </p:nvSpPr>
        <p:spPr>
          <a:xfrm>
            <a:off x="7493000" y="5765800"/>
            <a:ext cx="3886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1F24"/>
                </a:solidFill>
                <a:latin typeface="MiSans"/>
                <a:ea typeface="MiSans"/>
              </a:rPr>
              <a:t>智能体平台</a:t>
            </a:r>
            <a:endParaRPr lang="en-US" sz="1400"/>
          </a:p>
        </p:txBody>
      </p:sp>
      <p:sp>
        <p:nvSpPr>
          <p:cNvPr id="31" name="m5-desc"/>
          <p:cNvSpPr txBox="1"/>
          <p:nvPr/>
        </p:nvSpPr>
        <p:spPr>
          <a:xfrm>
            <a:off x="7493000" y="6045200"/>
            <a:ext cx="388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Agent / Tool 目录、Run 编排与审批、模型训练与评估</a:t>
            </a:r>
            <a:endParaRPr lang="en-US" sz="1150"/>
          </a:p>
        </p:txBody>
      </p:sp>
      <p:sp>
        <p:nvSpPr>
          <p:cNvPr id="32" name="foot-left"/>
          <p:cNvSpPr txBox="1"/>
          <p:nvPr/>
        </p:nvSpPr>
        <p:spPr>
          <a:xfrm>
            <a:off x="8128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CampusPilot · 软件工程课程答辩</a:t>
            </a:r>
            <a:endParaRPr lang="en-US" sz="950"/>
          </a:p>
        </p:txBody>
      </p:sp>
      <p:sp>
        <p:nvSpPr>
          <p:cNvPr id="33" name="foot-page"/>
          <p:cNvSpPr txBox="1"/>
          <p:nvPr/>
        </p:nvSpPr>
        <p:spPr>
          <a:xfrm>
            <a:off x="10414000" y="65278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03 / 14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173F35"/>
                </a:solidFill>
                <a:latin typeface="Liter"/>
                <a:ea typeface="Liter"/>
              </a:rPr>
              <a:t>02 · 成员分工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C1F24"/>
                </a:solidFill>
                <a:latin typeface="MiSans"/>
                <a:ea typeface="MiSans"/>
              </a:rPr>
              <a:t>四人小组：按模块纵向分工，契约先行，各自闭环</a:t>
            </a:r>
            <a:endParaRPr lang="en-US" sz="2800"/>
          </a:p>
        </p:txBody>
      </p:sp>
      <p:sp>
        <p:nvSpPr>
          <p:cNvPr id="4" name="title-bar"/>
          <p:cNvSpPr/>
          <p:nvPr/>
        </p:nvSpPr>
        <p:spPr>
          <a:xfrm>
            <a:off x="812800" y="1473200"/>
            <a:ext cx="558800" cy="381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5" name="title-line"/>
          <p:cNvSpPr/>
          <p:nvPr/>
        </p:nvSpPr>
        <p:spPr>
          <a:xfrm>
            <a:off x="812800" y="16002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graphicFrame>
        <p:nvGraphicFramePr>
          <p:cNvPr id="6" name="team-table"/>
          <p:cNvGraphicFramePr>
            <a:graphicFrameLocks noGrp="1"/>
          </p:cNvGraphicFramePr>
          <p:nvPr/>
        </p:nvGraphicFramePr>
        <p:xfrm>
          <a:off x="812800" y="1905000"/>
          <a:ext cx="7315200" cy="3556000"/>
        </p:xfrm>
        <a:graphic>
          <a:graphicData uri="http://schemas.openxmlformats.org/drawingml/2006/table">
            <a:tbl>
              <a:tblPr/>
              <a:tblGrid>
                <a:gridCol w="950976"/>
                <a:gridCol w="2414016"/>
                <a:gridCol w="731520"/>
                <a:gridCol w="3218688"/>
              </a:tblGrid>
              <a:tr h="462280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 b="1">
                          <a:solidFill>
                            <a:srgbClr val="173F35"/>
                          </a:solidFill>
                          <a:latin typeface="Times New Roman"/>
                          <a:ea typeface="Times New Roman"/>
                        </a:rPr>
                        <a:t>成员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C1F24"/>
                      </a:solidFill>
                    </a:lnT>
                    <a:lnB w="12700">
                      <a:solidFill>
                        <a:srgbClr val="1C1F24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 b="1">
                          <a:solidFill>
                            <a:srgbClr val="173F35"/>
                          </a:solidFill>
                          <a:latin typeface="Times New Roman"/>
                          <a:ea typeface="Times New Roman"/>
                        </a:rPr>
                        <a:t>负责模块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C1F24"/>
                      </a:solidFill>
                    </a:lnT>
                    <a:lnB w="12700">
                      <a:solidFill>
                        <a:srgbClr val="1C1F24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 b="1">
                          <a:solidFill>
                            <a:srgbClr val="173F35"/>
                          </a:solidFill>
                          <a:latin typeface="Times New Roman"/>
                          <a:ea typeface="Times New Roman"/>
                        </a:rPr>
                        <a:t>工时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C1F24"/>
                      </a:solidFill>
                    </a:lnT>
                    <a:lnB w="12700">
                      <a:solidFill>
                        <a:srgbClr val="1C1F24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 b="1">
                          <a:solidFill>
                            <a:srgbClr val="173F35"/>
                          </a:solidFill>
                          <a:latin typeface="Times New Roman"/>
                          <a:ea typeface="Times New Roman"/>
                        </a:rPr>
                        <a:t>主要职责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C1F24"/>
                      </a:solidFill>
                    </a:lnT>
                    <a:lnB w="12700">
                      <a:solidFill>
                        <a:srgbClr val="1C1F24"/>
                      </a:solidFill>
                    </a:lnB>
                    <a:noFill/>
                  </a:tcPr>
                </a:tc>
              </a:tr>
              <a:tr h="773430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覃焓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M4 治理兼容 · M5 运行时/安全 · 基础设施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124h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审批服务、安全护栏、执行轨迹、治理适配器、部署与契约同步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</a:tr>
              <a:tr h="773430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张讯毓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Tool 网关 · M2 校园服务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91h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Tool 注册中心与执行引擎（权限/审批/幂等/超时），指南/工单/电费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</a:tr>
              <a:tr h="773430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王一林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M1 知识库 · 模型工程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118h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Embedding 与 RAG 检索问答、模型网关、数据集/模型注册与评估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</a:tr>
              <a:tr h="773430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李欢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C1F24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M5 编排 · M3 社区互助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C1F24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167h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C1F24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Router / Supervisor / GraphRuntime、AgentRun API、活动 / 失物、前端工作台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C1F2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am-note"/>
          <p:cNvSpPr txBox="1"/>
          <p:nvPr/>
        </p:nvSpPr>
        <p:spPr>
          <a:xfrm>
            <a:off x="812800" y="5664200"/>
            <a:ext cx="7315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6A6F76"/>
                </a:solidFill>
                <a:latin typeface="MiSans"/>
                <a:ea typeface="MiSans"/>
              </a:rPr>
              <a:t>注：分工与工时依据《Jira 导入清单 V2.0》（7 个史诗 · 50 个 Issue · 2 个 Sprint × 6 天）；闭环联调与端到端测试为全员任务。</a:t>
            </a:r>
            <a:endParaRPr lang="en-US" sz="1100"/>
          </a:p>
        </p:txBody>
      </p:sp>
      <p:sp>
        <p:nvSpPr>
          <p:cNvPr id="8" name="collab-label"/>
          <p:cNvSpPr txBox="1"/>
          <p:nvPr/>
        </p:nvSpPr>
        <p:spPr>
          <a:xfrm>
            <a:off x="8636000" y="19050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73F35"/>
                </a:solidFill>
                <a:latin typeface="MiSans"/>
                <a:ea typeface="MiSans"/>
              </a:rPr>
              <a:t>协作机制</a:t>
            </a:r>
            <a:endParaRPr lang="en-US" sz="1300"/>
          </a:p>
        </p:txBody>
      </p:sp>
      <p:sp>
        <p:nvSpPr>
          <p:cNvPr id="9" name="collab-bar"/>
          <p:cNvSpPr/>
          <p:nvPr/>
        </p:nvSpPr>
        <p:spPr>
          <a:xfrm>
            <a:off x="8636000" y="2209800"/>
            <a:ext cx="27432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0" name="collab-list"/>
          <p:cNvSpPr txBox="1"/>
          <p:nvPr/>
        </p:nvSpPr>
        <p:spPr>
          <a:xfrm>
            <a:off x="8636000" y="2387600"/>
            <a:ext cx="27432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1C1F24"/>
                </a:solidFill>
                <a:latin typeface="MiSans"/>
                <a:ea typeface="MiSans"/>
              </a:rPr>
              <a:t>Issue 驱动</a:t>
            </a:r>
            <a:endParaRPr lang="en-US" sz="120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200">
                <a:solidFill>
                  <a:srgbClr val="1C1F24"/>
                </a:solidFill>
                <a:latin typeface="MiSans"/>
                <a:ea typeface="MiSans"/>
              </a:rPr>
              <a:t>Jira 导入清单 50 个 Issue，含问题、范围与验收标准；提交关联、验收后关闭。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200" b="1">
                <a:solidFill>
                  <a:srgbClr val="1C1F24"/>
                </a:solidFill>
                <a:latin typeface="MiSans"/>
                <a:ea typeface="MiSans"/>
              </a:rPr>
              <a:t>分支即模块</a:t>
            </a:r>
            <a:endParaRPr lang="en-US" sz="120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200">
                <a:solidFill>
                  <a:srgbClr val="1C1F24"/>
                </a:solidFill>
                <a:latin typeface="MiSans"/>
                <a:ea typeface="MiSans"/>
              </a:rPr>
              <a:t>模块同名分支 m1–m5 + 持续交付 PR，未验收保持 Draft。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200" b="1">
                <a:solidFill>
                  <a:srgbClr val="1C1F24"/>
                </a:solidFill>
                <a:latin typeface="MiSans"/>
                <a:ea typeface="MiSans"/>
              </a:rPr>
              <a:t>契约先行</a:t>
            </a:r>
            <a:endParaRPr lang="en-US" sz="120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200">
                <a:solidFill>
                  <a:srgbClr val="1C1F24"/>
                </a:solidFill>
                <a:latin typeface="MiSans"/>
                <a:ea typeface="MiSans"/>
              </a:rPr>
              <a:t>OpenAPI 为事实源，实现差异登记 todo.md，收尾统一修订。</a:t>
            </a:r>
            <a:endParaRPr lang="en-US" sz="1200"/>
          </a:p>
        </p:txBody>
      </p:sp>
      <p:sp>
        <p:nvSpPr>
          <p:cNvPr id="11" name="foot-left"/>
          <p:cNvSpPr txBox="1"/>
          <p:nvPr/>
        </p:nvSpPr>
        <p:spPr>
          <a:xfrm>
            <a:off x="8128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CampusPilot · 软件工程课程答辩</a:t>
            </a:r>
            <a:endParaRPr lang="en-US" sz="950"/>
          </a:p>
        </p:txBody>
      </p:sp>
      <p:sp>
        <p:nvSpPr>
          <p:cNvPr id="12" name="foot-page"/>
          <p:cNvSpPr txBox="1"/>
          <p:nvPr/>
        </p:nvSpPr>
        <p:spPr>
          <a:xfrm>
            <a:off x="10414000" y="65278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04 / 14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173F35"/>
                </a:solidFill>
                <a:latin typeface="Liter"/>
                <a:ea typeface="Liter"/>
              </a:rPr>
              <a:t>03 · 技术选型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C1F24"/>
                </a:solidFill>
                <a:latin typeface="MiSans"/>
                <a:ea typeface="MiSans"/>
              </a:rPr>
              <a:t>选型原则：成熟主流、契约可验证、本地可复现</a:t>
            </a:r>
            <a:endParaRPr lang="en-US" sz="2800"/>
          </a:p>
        </p:txBody>
      </p:sp>
      <p:sp>
        <p:nvSpPr>
          <p:cNvPr id="4" name="title-bar"/>
          <p:cNvSpPr/>
          <p:nvPr/>
        </p:nvSpPr>
        <p:spPr>
          <a:xfrm>
            <a:off x="812800" y="1473200"/>
            <a:ext cx="558800" cy="381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5" name="title-line"/>
          <p:cNvSpPr/>
          <p:nvPr/>
        </p:nvSpPr>
        <p:spPr>
          <a:xfrm>
            <a:off x="812800" y="16002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graphicFrame>
        <p:nvGraphicFramePr>
          <p:cNvPr id="6" name="tech-table"/>
          <p:cNvGraphicFramePr>
            <a:graphicFrameLocks noGrp="1"/>
          </p:cNvGraphicFramePr>
          <p:nvPr/>
        </p:nvGraphicFramePr>
        <p:xfrm>
          <a:off x="812800" y="1854200"/>
          <a:ext cx="10566400" cy="4241800"/>
        </p:xfrm>
        <a:graphic>
          <a:graphicData uri="http://schemas.openxmlformats.org/drawingml/2006/table">
            <a:tbl>
              <a:tblPr/>
              <a:tblGrid>
                <a:gridCol w="1584960"/>
                <a:gridCol w="3803904"/>
                <a:gridCol w="5177536"/>
              </a:tblGrid>
              <a:tr h="424180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 b="1">
                          <a:solidFill>
                            <a:srgbClr val="173F35"/>
                          </a:solidFill>
                          <a:latin typeface="Times New Roman"/>
                          <a:ea typeface="Times New Roman"/>
                        </a:rPr>
                        <a:t>层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C1F24"/>
                      </a:solidFill>
                    </a:lnT>
                    <a:lnB w="12700">
                      <a:solidFill>
                        <a:srgbClr val="1C1F24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 b="1">
                          <a:solidFill>
                            <a:srgbClr val="173F35"/>
                          </a:solidFill>
                          <a:latin typeface="Times New Roman"/>
                          <a:ea typeface="Times New Roman"/>
                        </a:rPr>
                        <a:t>技术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C1F24"/>
                      </a:solidFill>
                    </a:lnT>
                    <a:lnB w="12700">
                      <a:solidFill>
                        <a:srgbClr val="1C1F24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 b="1">
                          <a:solidFill>
                            <a:srgbClr val="173F35"/>
                          </a:solidFill>
                          <a:latin typeface="Times New Roman"/>
                          <a:ea typeface="Times New Roman"/>
                        </a:rPr>
                        <a:t>选型理由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C1F24"/>
                      </a:solidFill>
                    </a:lnT>
                    <a:lnB w="12700">
                      <a:solidFill>
                        <a:srgbClr val="1C1F24"/>
                      </a:solidFill>
                    </a:lnB>
                    <a:noFill/>
                  </a:tcPr>
                </a:tc>
              </a:tr>
              <a:tr h="477203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后端框架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FastAPI · Pydantic v2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异步高性能；自动生成 OpenAPI，契约先行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</a:tr>
              <a:tr h="477203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数据访问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SQLAlchemy 2.0（异步）+ Alembic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显式事务与乐观锁；迁移支持离线升降级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</a:tr>
              <a:tr h="477203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事实源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PostgreSQL 17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事务 Outbox、行级约束，系统状态唯一事实源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</a:tr>
              <a:tr h="477203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缓存限流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Redis 7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用户 / IP 双维限流与 Worker 唤醒；宕机退化为轮询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</a:tr>
              <a:tr h="477203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向量检索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Chroma + bge-small-zh-v1.5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本地中文嵌入，索引可重建，无外部服务依赖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</a:tr>
              <a:tr h="477203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外部 LLM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DeepSeek API（deepseek-v4-pro）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唯一外部模型；路由 / 工具调用 / 回答严格 Schema 校验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</a:tr>
              <a:tr h="477203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前端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Vue 3 + TS strict + Vite + Pinia + Element Plus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API SDK 由 OpenAPI 自动生成，静态门禁禁手写路径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FDCD3"/>
                      </a:solidFill>
                    </a:lnB>
                    <a:noFill/>
                  </a:tcPr>
                </a:tc>
              </a:tr>
              <a:tr h="477203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部署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C1F24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Docker Compose + Nginx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C1F24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50">
                          <a:solidFill>
                            <a:srgbClr val="1C1F24"/>
                          </a:solidFill>
                          <a:latin typeface="Times New Roman"/>
                          <a:ea typeface="Times New Roman"/>
                        </a:rPr>
                        <a:t>一键起全栈：PG / Redis / API / 四类 Worker / Web</a:t>
                      </a:r>
                      <a:endParaRPr lang="en-US" sz="125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C1F2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ch-note"/>
          <p:cNvSpPr txBox="1"/>
          <p:nvPr/>
        </p:nvSpPr>
        <p:spPr>
          <a:xfrm>
            <a:off x="812800" y="6248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6A6F76"/>
                </a:solidFill>
                <a:latin typeface="MiSans"/>
                <a:ea typeface="MiSans"/>
              </a:rPr>
              <a:t>依赖钉版策略：fastapi ≥0.115,&lt;0.137（≥0.137 破坏契约测试路由遍历）；可选依赖组 [ai] / [modelops] 按需安装。</a:t>
            </a:r>
            <a:endParaRPr lang="en-US" sz="1100"/>
          </a:p>
        </p:txBody>
      </p:sp>
      <p:sp>
        <p:nvSpPr>
          <p:cNvPr id="8" name="foot-left"/>
          <p:cNvSpPr txBox="1"/>
          <p:nvPr/>
        </p:nvSpPr>
        <p:spPr>
          <a:xfrm>
            <a:off x="8128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CampusPilot · 软件工程课程答辩</a:t>
            </a:r>
            <a:endParaRPr lang="en-US" sz="950"/>
          </a:p>
        </p:txBody>
      </p:sp>
      <p:sp>
        <p:nvSpPr>
          <p:cNvPr id="9" name="foot-page"/>
          <p:cNvSpPr txBox="1"/>
          <p:nvPr/>
        </p:nvSpPr>
        <p:spPr>
          <a:xfrm>
            <a:off x="10414000" y="65278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05 / 14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173F35"/>
                </a:solidFill>
                <a:latin typeface="Liter"/>
                <a:ea typeface="Liter"/>
              </a:rPr>
              <a:t>04 · 系统架构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C1F24"/>
                </a:solidFill>
                <a:latin typeface="MiSans"/>
                <a:ea typeface="MiSans"/>
              </a:rPr>
              <a:t>前后端分离 + 模块化单体：PostgreSQL 为唯一事实源</a:t>
            </a:r>
            <a:endParaRPr lang="en-US" sz="2800"/>
          </a:p>
        </p:txBody>
      </p:sp>
      <p:sp>
        <p:nvSpPr>
          <p:cNvPr id="4" name="title-bar"/>
          <p:cNvSpPr/>
          <p:nvPr/>
        </p:nvSpPr>
        <p:spPr>
          <a:xfrm>
            <a:off x="812800" y="1473200"/>
            <a:ext cx="558800" cy="381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5" name="title-line"/>
          <p:cNvSpPr/>
          <p:nvPr/>
        </p:nvSpPr>
        <p:spPr>
          <a:xfrm>
            <a:off x="812800" y="16002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6" name="box-web"/>
          <p:cNvSpPr/>
          <p:nvPr/>
        </p:nvSpPr>
        <p:spPr>
          <a:xfrm>
            <a:off x="812800" y="1803400"/>
            <a:ext cx="49784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CD3"/>
            </a:solidFill>
          </a:ln>
        </p:spPr>
      </p:sp>
      <p:sp>
        <p:nvSpPr>
          <p:cNvPr id="7" name="box-web-text"/>
          <p:cNvSpPr txBox="1"/>
          <p:nvPr/>
        </p:nvSpPr>
        <p:spPr>
          <a:xfrm>
            <a:off x="1016000" y="18796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1C1F24"/>
                </a:solidFill>
                <a:latin typeface="MiSans"/>
                <a:ea typeface="MiSans"/>
              </a:rPr>
              <a:t>浏览器 · Vue 3 SPA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>
                <a:solidFill>
                  <a:srgbClr val="6A6F76"/>
                </a:solidFill>
                <a:latin typeface="MiSans"/>
                <a:ea typeface="MiSans"/>
              </a:rPr>
              <a:t>Pinia 内存 Token · SDK 自动生成 · Element Plus</a:t>
            </a:r>
            <a:endParaRPr lang="en-US" sz="1600"/>
          </a:p>
        </p:txBody>
      </p:sp>
      <p:sp>
        <p:nvSpPr>
          <p:cNvPr id="8" name="arrow-web-nginx"/>
          <p:cNvSpPr/>
          <p:nvPr>
            <p:extLst>
              <p:ext uri="{F5677B7D-0D2A-4D9B-9A5C-6D8D7D0E5A5D}">
                <pptd:line encoding="base64url">eyJjdXJ2ZSI6InNoYXJwIiwicG9pbnRzIjoiMCwwIDEsMCIsInZpZXdCb3giOlsxLDFdfQ</pptd:line>
              </p:ext>
            </p:extLst>
          </p:nvPr>
        </p:nvSpPr>
        <p:spPr>
          <a:xfrm>
            <a:off x="5842000" y="2133600"/>
            <a:ext cx="5080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9050">
            <a:solidFill>
              <a:srgbClr val="6A6F76"/>
            </a:solidFill>
            <a:tailEnd type="arrow"/>
          </a:ln>
        </p:spPr>
      </p:sp>
      <p:sp>
        <p:nvSpPr>
          <p:cNvPr id="9" name="arrow-web-label"/>
          <p:cNvSpPr txBox="1"/>
          <p:nvPr/>
        </p:nvSpPr>
        <p:spPr>
          <a:xfrm>
            <a:off x="5664200" y="1879600"/>
            <a:ext cx="863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900">
                <a:solidFill>
                  <a:srgbClr val="6A6F76"/>
                </a:solidFill>
                <a:latin typeface="MiSans"/>
                <a:ea typeface="MiSans"/>
              </a:rPr>
              <a:t>HTTPS</a:t>
            </a:r>
            <a:endParaRPr lang="en-US" sz="900"/>
          </a:p>
        </p:txBody>
      </p:sp>
      <p:sp>
        <p:nvSpPr>
          <p:cNvPr id="10" name="box-nginx"/>
          <p:cNvSpPr/>
          <p:nvPr/>
        </p:nvSpPr>
        <p:spPr>
          <a:xfrm>
            <a:off x="6400800" y="1803400"/>
            <a:ext cx="49784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CD3"/>
            </a:solidFill>
          </a:ln>
        </p:spPr>
      </p:sp>
      <p:sp>
        <p:nvSpPr>
          <p:cNvPr id="11" name="box-nginx-text"/>
          <p:cNvSpPr txBox="1"/>
          <p:nvPr/>
        </p:nvSpPr>
        <p:spPr>
          <a:xfrm>
            <a:off x="6604000" y="18796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1C1F24"/>
                </a:solidFill>
                <a:latin typeface="MiSans"/>
                <a:ea typeface="MiSans"/>
              </a:rPr>
              <a:t>Nginx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>
                <a:solidFill>
                  <a:srgbClr val="6A6F76"/>
                </a:solidFill>
                <a:latin typeface="MiSans"/>
                <a:ea typeface="MiSans"/>
              </a:rPr>
              <a:t>前端静态托管 · /api 反向代理 · SSE 长连接</a:t>
            </a:r>
            <a:endParaRPr lang="en-US" sz="1600"/>
          </a:p>
        </p:txBody>
      </p:sp>
      <p:sp>
        <p:nvSpPr>
          <p:cNvPr id="12" name="arrow-nginx-api"/>
          <p:cNvSpPr/>
          <p:nvPr>
            <p:extLst>
              <p:ext uri="{F5677B7D-0D2A-4D9B-9A5C-6D8D7D0E5A5D}">
                <pptd:line encoding="base64url">eyJjdXJ2ZSI6InNoYXJwIiwicG9pbnRzIjoiMCwwIDAsMSIsInZpZXdCb3giOlsxLDFdfQ</pptd:line>
              </p:ext>
            </p:extLst>
          </p:nvPr>
        </p:nvSpPr>
        <p:spPr>
          <a:xfrm>
            <a:off x="8877300" y="24892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6A6F76"/>
            </a:solidFill>
            <a:tailEnd type="arrow"/>
          </a:ln>
        </p:spPr>
      </p:sp>
      <p:sp>
        <p:nvSpPr>
          <p:cNvPr id="13" name="box-api"/>
          <p:cNvSpPr/>
          <p:nvPr/>
        </p:nvSpPr>
        <p:spPr>
          <a:xfrm>
            <a:off x="812800" y="2819400"/>
            <a:ext cx="10566400" cy="6604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14" name="box-api-text"/>
          <p:cNvSpPr txBox="1"/>
          <p:nvPr/>
        </p:nvSpPr>
        <p:spPr>
          <a:xfrm>
            <a:off x="1117600" y="2895600"/>
            <a:ext cx="9956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FastAPI 应用 create_app()　</a:t>
            </a:r>
            <a:r>
              <a:rPr lang="en-US" sz="1100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35 个路由模块 · 统一响应信封 · RequestId 中间件 · CORS · 全局异常处理 · 依赖注入权限校验</a:t>
            </a:r>
            <a:endParaRPr lang="en-US" sz="1600"/>
          </a:p>
        </p:txBody>
      </p:sp>
      <p:sp>
        <p:nvSpPr>
          <p:cNvPr id="15" name="dist-v0"/>
          <p:cNvSpPr/>
          <p:nvPr>
            <p:extLst>
              <p:ext uri="{F5677B7D-0D2A-4D9B-9A5C-6D8D7D0E5A5D}">
                <pptd:line encoding="base64url">eyJjdXJ2ZSI6InNoYXJwIiwicG9pbnRzIjoiMCwwIDAsMSIsInZpZXdCb3giOlsxLDFdfQ</pptd:line>
              </p:ext>
            </p:extLst>
          </p:nvPr>
        </p:nvSpPr>
        <p:spPr>
          <a:xfrm>
            <a:off x="6083300" y="34798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6A6F76"/>
            </a:solidFill>
          </a:ln>
        </p:spPr>
      </p:sp>
      <p:sp>
        <p:nvSpPr>
          <p:cNvPr id="16" name="dist-h"/>
          <p:cNvSpPr/>
          <p:nvPr>
            <p:extLst>
              <p:ext uri="{F5677B7D-0D2A-4D9B-9A5C-6D8D7D0E5A5D}">
                <pptd:line encoding="base64url">eyJjdXJ2ZSI6InNoYXJwIiwicG9pbnRzIjoiMCwwIDEsMCIsInZpZXdCb3giOlsxLDFdfQ</pptd:line>
              </p:ext>
            </p:extLst>
          </p:nvPr>
        </p:nvSpPr>
        <p:spPr>
          <a:xfrm>
            <a:off x="1790700" y="3683000"/>
            <a:ext cx="85852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9050">
            <a:solidFill>
              <a:srgbClr val="6A6F76"/>
            </a:solidFill>
          </a:ln>
        </p:spPr>
      </p:sp>
      <p:sp>
        <p:nvSpPr>
          <p:cNvPr id="17" name="dist-v1"/>
          <p:cNvSpPr/>
          <p:nvPr>
            <p:extLst>
              <p:ext uri="{F5677B7D-0D2A-4D9B-9A5C-6D8D7D0E5A5D}">
                <pptd:line encoding="base64url">eyJjdXJ2ZSI6InNoYXJwIiwicG9pbnRzIjoiMCwwIDAsMSIsInZpZXdCb3giOlsxLDFdfQ</pptd:line>
              </p:ext>
            </p:extLst>
          </p:nvPr>
        </p:nvSpPr>
        <p:spPr>
          <a:xfrm>
            <a:off x="1778000" y="36830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6A6F76"/>
            </a:solidFill>
            <a:tailEnd type="arrow"/>
          </a:ln>
        </p:spPr>
      </p:sp>
      <p:sp>
        <p:nvSpPr>
          <p:cNvPr id="18" name="dist-v2"/>
          <p:cNvSpPr/>
          <p:nvPr>
            <p:extLst>
              <p:ext uri="{F5677B7D-0D2A-4D9B-9A5C-6D8D7D0E5A5D}">
                <pptd:line encoding="base64url">eyJjdXJ2ZSI6InNoYXJwIiwicG9pbnRzIjoiMCwwIDAsMSIsInZpZXdCb3giOlsxLDFdfQ</pptd:line>
              </p:ext>
            </p:extLst>
          </p:nvPr>
        </p:nvSpPr>
        <p:spPr>
          <a:xfrm>
            <a:off x="3924300" y="36830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6A6F76"/>
            </a:solidFill>
            <a:tailEnd type="arrow"/>
          </a:ln>
        </p:spPr>
      </p:sp>
      <p:sp>
        <p:nvSpPr>
          <p:cNvPr id="19" name="dist-v3"/>
          <p:cNvSpPr/>
          <p:nvPr>
            <p:extLst>
              <p:ext uri="{F5677B7D-0D2A-4D9B-9A5C-6D8D7D0E5A5D}">
                <pptd:line encoding="base64url">eyJjdXJ2ZSI6InNoYXJwIiwicG9pbnRzIjoiMCwwIDAsMSIsInZpZXdCb3giOlsxLDFdfQ</pptd:line>
              </p:ext>
            </p:extLst>
          </p:nvPr>
        </p:nvSpPr>
        <p:spPr>
          <a:xfrm>
            <a:off x="6070600" y="36830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6A6F76"/>
            </a:solidFill>
            <a:tailEnd type="arrow"/>
          </a:ln>
        </p:spPr>
      </p:sp>
      <p:sp>
        <p:nvSpPr>
          <p:cNvPr id="20" name="dist-v4"/>
          <p:cNvSpPr/>
          <p:nvPr>
            <p:extLst>
              <p:ext uri="{F5677B7D-0D2A-4D9B-9A5C-6D8D7D0E5A5D}">
                <pptd:line encoding="base64url">eyJjdXJ2ZSI6InNoYXJwIiwicG9pbnRzIjoiMCwwIDAsMSIsInZpZXdCb3giOlsxLDFdfQ</pptd:line>
              </p:ext>
            </p:extLst>
          </p:nvPr>
        </p:nvSpPr>
        <p:spPr>
          <a:xfrm>
            <a:off x="8216900" y="36830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6A6F76"/>
            </a:solidFill>
            <a:tailEnd type="arrow"/>
          </a:ln>
        </p:spPr>
      </p:sp>
      <p:sp>
        <p:nvSpPr>
          <p:cNvPr id="21" name="dist-v5"/>
          <p:cNvSpPr/>
          <p:nvPr>
            <p:extLst>
              <p:ext uri="{F5677B7D-0D2A-4D9B-9A5C-6D8D7D0E5A5D}">
                <pptd:line encoding="base64url">eyJjdXJ2ZSI6InNoYXJwIiwicG9pbnRzIjoiMCwwIDAsMSIsInZpZXdCb3giOlsxLDFdfQ</pptd:line>
              </p:ext>
            </p:extLst>
          </p:nvPr>
        </p:nvSpPr>
        <p:spPr>
          <a:xfrm>
            <a:off x="10363200" y="36830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6A6F76"/>
            </a:solidFill>
            <a:tailEnd type="arrow"/>
          </a:ln>
        </p:spPr>
      </p:sp>
      <p:sp>
        <p:nvSpPr>
          <p:cNvPr id="22" name="mod1"/>
          <p:cNvSpPr/>
          <p:nvPr/>
        </p:nvSpPr>
        <p:spPr>
          <a:xfrm>
            <a:off x="812800" y="3911600"/>
            <a:ext cx="19685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CD3"/>
            </a:solidFill>
          </a:ln>
        </p:spPr>
      </p:sp>
      <p:sp>
        <p:nvSpPr>
          <p:cNvPr id="23" name="mod1-text"/>
          <p:cNvSpPr txBox="1"/>
          <p:nvPr/>
        </p:nvSpPr>
        <p:spPr>
          <a:xfrm>
            <a:off x="914400" y="3987800"/>
            <a:ext cx="1765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M1 知识库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入库 · RAG · 会话</a:t>
            </a:r>
            <a:endParaRPr lang="en-US" sz="1600"/>
          </a:p>
        </p:txBody>
      </p:sp>
      <p:sp>
        <p:nvSpPr>
          <p:cNvPr id="24" name="mod2"/>
          <p:cNvSpPr/>
          <p:nvPr/>
        </p:nvSpPr>
        <p:spPr>
          <a:xfrm>
            <a:off x="2959100" y="3911600"/>
            <a:ext cx="19685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CD3"/>
            </a:solidFill>
          </a:ln>
        </p:spPr>
      </p:sp>
      <p:sp>
        <p:nvSpPr>
          <p:cNvPr id="25" name="mod2-text"/>
          <p:cNvSpPr txBox="1"/>
          <p:nvPr/>
        </p:nvSpPr>
        <p:spPr>
          <a:xfrm>
            <a:off x="3060700" y="3987800"/>
            <a:ext cx="1765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M2 校园服务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工单 · 电费 · 进度</a:t>
            </a:r>
            <a:endParaRPr lang="en-US" sz="1600"/>
          </a:p>
        </p:txBody>
      </p:sp>
      <p:sp>
        <p:nvSpPr>
          <p:cNvPr id="26" name="mod3"/>
          <p:cNvSpPr/>
          <p:nvPr/>
        </p:nvSpPr>
        <p:spPr>
          <a:xfrm>
            <a:off x="5105400" y="3911600"/>
            <a:ext cx="19685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CD3"/>
            </a:solidFill>
          </a:ln>
        </p:spPr>
      </p:sp>
      <p:sp>
        <p:nvSpPr>
          <p:cNvPr id="27" name="mod3-text"/>
          <p:cNvSpPr txBox="1"/>
          <p:nvPr/>
        </p:nvSpPr>
        <p:spPr>
          <a:xfrm>
            <a:off x="5207000" y="3987800"/>
            <a:ext cx="1765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M3 社区互助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帖子 · 活动 · 审核</a:t>
            </a:r>
            <a:endParaRPr lang="en-US" sz="1600"/>
          </a:p>
        </p:txBody>
      </p:sp>
      <p:sp>
        <p:nvSpPr>
          <p:cNvPr id="28" name="mod4"/>
          <p:cNvSpPr/>
          <p:nvPr/>
        </p:nvSpPr>
        <p:spPr>
          <a:xfrm>
            <a:off x="7251700" y="3911600"/>
            <a:ext cx="19685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CD3"/>
            </a:solidFill>
          </a:ln>
        </p:spPr>
      </p:sp>
      <p:sp>
        <p:nvSpPr>
          <p:cNvPr id="29" name="mod4-text"/>
          <p:cNvSpPr txBox="1"/>
          <p:nvPr/>
        </p:nvSpPr>
        <p:spPr>
          <a:xfrm>
            <a:off x="7353300" y="3987800"/>
            <a:ext cx="1765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M4 平台治理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认证 · RBAC · 审计</a:t>
            </a:r>
            <a:endParaRPr lang="en-US" sz="1600"/>
          </a:p>
        </p:txBody>
      </p:sp>
      <p:sp>
        <p:nvSpPr>
          <p:cNvPr id="30" name="mod5"/>
          <p:cNvSpPr/>
          <p:nvPr/>
        </p:nvSpPr>
        <p:spPr>
          <a:xfrm>
            <a:off x="9398000" y="3911600"/>
            <a:ext cx="1968500" cy="711200"/>
          </a:xfrm>
          <a:prstGeom prst="rect">
            <a:avLst/>
          </a:prstGeom>
          <a:solidFill>
            <a:srgbClr val="E7EDE8"/>
          </a:solidFill>
          <a:ln w="15240">
            <a:solidFill>
              <a:srgbClr val="173F35"/>
            </a:solidFill>
          </a:ln>
        </p:spPr>
      </p:sp>
      <p:sp>
        <p:nvSpPr>
          <p:cNvPr id="31" name="mod5-text"/>
          <p:cNvSpPr txBox="1"/>
          <p:nvPr/>
        </p:nvSpPr>
        <p:spPr>
          <a:xfrm>
            <a:off x="9499600" y="3987800"/>
            <a:ext cx="1765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73F35"/>
                </a:solidFill>
                <a:latin typeface="MiSans"/>
                <a:ea typeface="MiSans"/>
              </a:rPr>
              <a:t>M5 智能体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编排 · 审批 · 训练评估</a:t>
            </a:r>
            <a:endParaRPr lang="en-US" sz="1600"/>
          </a:p>
        </p:txBody>
      </p:sp>
      <p:sp>
        <p:nvSpPr>
          <p:cNvPr id="32" name="data-v1"/>
          <p:cNvSpPr/>
          <p:nvPr>
            <p:extLst>
              <p:ext uri="{F5677B7D-0D2A-4D9B-9A5C-6D8D7D0E5A5D}">
                <pptd:line encoding="base64url">eyJjdXJ2ZSI6InNoYXJwIiwicG9pbnRzIjoiMCwwIDAsMSIsInZpZXdCb3giOlsxLDFdfQ</pptd:line>
              </p:ext>
            </p:extLst>
          </p:nvPr>
        </p:nvSpPr>
        <p:spPr>
          <a:xfrm>
            <a:off x="2044700" y="46482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6A6F76"/>
            </a:solidFill>
            <a:tailEnd type="arrow"/>
          </a:ln>
        </p:spPr>
      </p:sp>
      <p:sp>
        <p:nvSpPr>
          <p:cNvPr id="33" name="data-v2"/>
          <p:cNvSpPr/>
          <p:nvPr>
            <p:extLst>
              <p:ext uri="{F5677B7D-0D2A-4D9B-9A5C-6D8D7D0E5A5D}">
                <pptd:line encoding="base64url">eyJjdXJ2ZSI6InNoYXJwIiwicG9pbnRzIjoiMCwwIDAsMSIsInZpZXdCb3giOlsxLDFdfQ</pptd:line>
              </p:ext>
            </p:extLst>
          </p:nvPr>
        </p:nvSpPr>
        <p:spPr>
          <a:xfrm>
            <a:off x="4737100" y="46482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6A6F76"/>
            </a:solidFill>
            <a:tailEnd type="arrow"/>
          </a:ln>
        </p:spPr>
      </p:sp>
      <p:sp>
        <p:nvSpPr>
          <p:cNvPr id="34" name="data-v3"/>
          <p:cNvSpPr/>
          <p:nvPr>
            <p:extLst>
              <p:ext uri="{F5677B7D-0D2A-4D9B-9A5C-6D8D7D0E5A5D}">
                <pptd:line encoding="base64url">eyJjdXJ2ZSI6InNoYXJwIiwicG9pbnRzIjoiMCwwIDAsMSIsInZpZXdCb3giOlsxLDFdfQ</pptd:line>
              </p:ext>
            </p:extLst>
          </p:nvPr>
        </p:nvSpPr>
        <p:spPr>
          <a:xfrm>
            <a:off x="7429500" y="46482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6A6F76"/>
            </a:solidFill>
            <a:tailEnd type="arrow"/>
          </a:ln>
        </p:spPr>
      </p:sp>
      <p:sp>
        <p:nvSpPr>
          <p:cNvPr id="35" name="data-v4"/>
          <p:cNvSpPr/>
          <p:nvPr>
            <p:extLst>
              <p:ext uri="{F5677B7D-0D2A-4D9B-9A5C-6D8D7D0E5A5D}">
                <pptd:line encoding="base64url">eyJjdXJ2ZSI6InNoYXJwIiwicG9pbnRzIjoiMCwwIDAsMSIsInZpZXdCb3giOlsxLDFdfQ</pptd:line>
              </p:ext>
            </p:extLst>
          </p:nvPr>
        </p:nvSpPr>
        <p:spPr>
          <a:xfrm>
            <a:off x="10363200" y="46482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C2562F"/>
            </a:solidFill>
            <a:prstDash val="dash"/>
            <a:tailEnd type="arrow"/>
          </a:ln>
        </p:spPr>
      </p:sp>
      <p:sp>
        <p:nvSpPr>
          <p:cNvPr id="36" name="store1"/>
          <p:cNvSpPr/>
          <p:nvPr/>
        </p:nvSpPr>
        <p:spPr>
          <a:xfrm>
            <a:off x="812800" y="4978400"/>
            <a:ext cx="24892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CD3"/>
            </a:solidFill>
          </a:ln>
        </p:spPr>
      </p:sp>
      <p:sp>
        <p:nvSpPr>
          <p:cNvPr id="37" name="store1-text"/>
          <p:cNvSpPr txBox="1"/>
          <p:nvPr/>
        </p:nvSpPr>
        <p:spPr>
          <a:xfrm>
            <a:off x="965200" y="50546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PostgreSQL 17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事实源 · Outbox · 迁移×11</a:t>
            </a:r>
            <a:endParaRPr lang="en-US" sz="1600"/>
          </a:p>
        </p:txBody>
      </p:sp>
      <p:sp>
        <p:nvSpPr>
          <p:cNvPr id="38" name="store2"/>
          <p:cNvSpPr/>
          <p:nvPr/>
        </p:nvSpPr>
        <p:spPr>
          <a:xfrm>
            <a:off x="3505200" y="4978400"/>
            <a:ext cx="24892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CD3"/>
            </a:solidFill>
          </a:ln>
        </p:spPr>
      </p:sp>
      <p:sp>
        <p:nvSpPr>
          <p:cNvPr id="39" name="store2-text"/>
          <p:cNvSpPr txBox="1"/>
          <p:nvPr/>
        </p:nvSpPr>
        <p:spPr>
          <a:xfrm>
            <a:off x="3657600" y="50546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Redis 7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限流 · Worker 唤醒通知</a:t>
            </a:r>
            <a:endParaRPr lang="en-US" sz="1600"/>
          </a:p>
        </p:txBody>
      </p:sp>
      <p:sp>
        <p:nvSpPr>
          <p:cNvPr id="40" name="store3"/>
          <p:cNvSpPr/>
          <p:nvPr/>
        </p:nvSpPr>
        <p:spPr>
          <a:xfrm>
            <a:off x="6197600" y="4978400"/>
            <a:ext cx="24892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CD3"/>
            </a:solidFill>
          </a:ln>
        </p:spPr>
      </p:sp>
      <p:sp>
        <p:nvSpPr>
          <p:cNvPr id="41" name="store3-text"/>
          <p:cNvSpPr txBox="1"/>
          <p:nvPr/>
        </p:nvSpPr>
        <p:spPr>
          <a:xfrm>
            <a:off x="6350000" y="50546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Chroma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向量索引（可重建）</a:t>
            </a:r>
            <a:endParaRPr lang="en-US" sz="1600"/>
          </a:p>
        </p:txBody>
      </p:sp>
      <p:sp>
        <p:nvSpPr>
          <p:cNvPr id="42" name="store4"/>
          <p:cNvSpPr/>
          <p:nvPr/>
        </p:nvSpPr>
        <p:spPr>
          <a:xfrm>
            <a:off x="8890000" y="4978400"/>
            <a:ext cx="2489200" cy="66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C2562F"/>
            </a:solidFill>
            <a:prstDash val="dash"/>
          </a:ln>
        </p:spPr>
      </p:sp>
      <p:sp>
        <p:nvSpPr>
          <p:cNvPr id="43" name="store4-text"/>
          <p:cNvSpPr txBox="1"/>
          <p:nvPr/>
        </p:nvSpPr>
        <p:spPr>
          <a:xfrm>
            <a:off x="9042400" y="50546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C2562F"/>
                </a:solidFill>
                <a:latin typeface="MiSans"/>
                <a:ea typeface="MiSans"/>
              </a:rPr>
              <a:t>DeepSeek API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唯一外部 LLM · 结构化校验</a:t>
            </a:r>
            <a:endParaRPr lang="en-US" sz="1600"/>
          </a:p>
        </p:txBody>
      </p:sp>
      <p:sp>
        <p:nvSpPr>
          <p:cNvPr id="44" name="worker-line"/>
          <p:cNvSpPr/>
          <p:nvPr/>
        </p:nvSpPr>
        <p:spPr>
          <a:xfrm>
            <a:off x="812800" y="59436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45" name="worker-note"/>
          <p:cNvSpPr txBox="1"/>
          <p:nvPr/>
        </p:nvSpPr>
        <p:spPr>
          <a:xfrm>
            <a:off x="812800" y="60452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A6F76"/>
                </a:solidFill>
                <a:latin typeface="MiSans"/>
                <a:ea typeface="MiSans"/>
              </a:rPr>
              <a:t>四类后台 Worker：</a:t>
            </a:r>
            <a:r>
              <a:rPr lang="en-US" sz="1100" b="1">
                <a:solidFill>
                  <a:srgbClr val="6A6F76"/>
                </a:solidFill>
                <a:latin typeface="MiSans"/>
                <a:ea typeface="MiSans"/>
              </a:rPr>
              <a:t>runtime · ingestion · training · evaluation</a:t>
            </a:r>
            <a:r>
              <a:rPr lang="en-US" sz="1100">
                <a:solidFill>
                  <a:srgbClr val="6A6F76"/>
                </a:solidFill>
                <a:latin typeface="MiSans"/>
                <a:ea typeface="MiSans"/>
              </a:rPr>
              <a:t> —— Redis 发布订阅唤醒，不可用时退化为 2s 数据库轮询；Chroma 索引可随时由 PostgreSQL 重建。</a:t>
            </a:r>
            <a:endParaRPr lang="en-US" sz="1100"/>
          </a:p>
        </p:txBody>
      </p:sp>
      <p:sp>
        <p:nvSpPr>
          <p:cNvPr id="46" name="foot-left"/>
          <p:cNvSpPr txBox="1"/>
          <p:nvPr/>
        </p:nvSpPr>
        <p:spPr>
          <a:xfrm>
            <a:off x="8128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CampusPilot · 软件工程课程答辩</a:t>
            </a:r>
            <a:endParaRPr lang="en-US" sz="950"/>
          </a:p>
        </p:txBody>
      </p:sp>
      <p:sp>
        <p:nvSpPr>
          <p:cNvPr id="47" name="foot-page"/>
          <p:cNvSpPr txBox="1"/>
          <p:nvPr/>
        </p:nvSpPr>
        <p:spPr>
          <a:xfrm>
            <a:off x="10414000" y="65278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06 / 14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173F35"/>
                </a:solidFill>
                <a:latin typeface="Liter"/>
                <a:ea typeface="Liter"/>
              </a:rPr>
              <a:t>04 · 核心机制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C1F24"/>
                </a:solidFill>
                <a:latin typeface="MiSans"/>
                <a:ea typeface="MiSans"/>
              </a:rPr>
              <a:t>关键机制：一次 Agent Run 的生命周期（M5）</a:t>
            </a:r>
            <a:endParaRPr lang="en-US" sz="2800"/>
          </a:p>
        </p:txBody>
      </p:sp>
      <p:sp>
        <p:nvSpPr>
          <p:cNvPr id="4" name="title-bar"/>
          <p:cNvSpPr/>
          <p:nvPr/>
        </p:nvSpPr>
        <p:spPr>
          <a:xfrm>
            <a:off x="812800" y="1473200"/>
            <a:ext cx="558800" cy="381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5" name="title-line"/>
          <p:cNvSpPr/>
          <p:nvPr/>
        </p:nvSpPr>
        <p:spPr>
          <a:xfrm>
            <a:off x="812800" y="16002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6" name="s1-num"/>
          <p:cNvSpPr txBox="1"/>
          <p:nvPr/>
        </p:nvSpPr>
        <p:spPr>
          <a:xfrm>
            <a:off x="812800" y="19050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173F35"/>
                </a:solidFill>
                <a:latin typeface="Liter"/>
                <a:ea typeface="Liter"/>
              </a:rPr>
              <a:t>01</a:t>
            </a:r>
            <a:endParaRPr lang="en-US" sz="1600"/>
          </a:p>
        </p:txBody>
      </p:sp>
      <p:sp>
        <p:nvSpPr>
          <p:cNvPr id="7" name="s1-title"/>
          <p:cNvSpPr txBox="1"/>
          <p:nvPr/>
        </p:nvSpPr>
        <p:spPr>
          <a:xfrm>
            <a:off x="1422400" y="1930400"/>
            <a:ext cx="284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C1F24"/>
                </a:solidFill>
                <a:latin typeface="MiSans"/>
                <a:ea typeface="MiSans"/>
              </a:rPr>
              <a:t>创建 Run（幂等）</a:t>
            </a:r>
            <a:endParaRPr lang="en-US" sz="1500"/>
          </a:p>
        </p:txBody>
      </p:sp>
      <p:sp>
        <p:nvSpPr>
          <p:cNvPr id="8" name="s1-desc"/>
          <p:cNvSpPr txBox="1"/>
          <p:nvPr/>
        </p:nvSpPr>
        <p:spPr>
          <a:xfrm>
            <a:off x="812800" y="23622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POST /agent-runs 携带幂等键；事务 Outbox 保证「状态变更 + 事件」原子落库。</a:t>
            </a:r>
            <a:endParaRPr lang="en-US" sz="1150"/>
          </a:p>
        </p:txBody>
      </p:sp>
      <p:sp>
        <p:nvSpPr>
          <p:cNvPr id="9" name="s1-arrow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4343400" y="2032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A6F76"/>
          </a:solidFill>
          <a:ln>
            <a:noFill/>
          </a:ln>
        </p:spPr>
      </p:sp>
      <p:sp>
        <p:nvSpPr>
          <p:cNvPr id="10" name="s2-num"/>
          <p:cNvSpPr txBox="1"/>
          <p:nvPr/>
        </p:nvSpPr>
        <p:spPr>
          <a:xfrm>
            <a:off x="4572000" y="19050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173F35"/>
                </a:solidFill>
                <a:latin typeface="Liter"/>
                <a:ea typeface="Liter"/>
              </a:rPr>
              <a:t>02</a:t>
            </a:r>
            <a:endParaRPr lang="en-US" sz="1600"/>
          </a:p>
        </p:txBody>
      </p:sp>
      <p:sp>
        <p:nvSpPr>
          <p:cNvPr id="11" name="s2-title"/>
          <p:cNvSpPr txBox="1"/>
          <p:nvPr/>
        </p:nvSpPr>
        <p:spPr>
          <a:xfrm>
            <a:off x="5181600" y="1930400"/>
            <a:ext cx="284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C1F24"/>
                </a:solidFill>
                <a:latin typeface="MiSans"/>
                <a:ea typeface="MiSans"/>
              </a:rPr>
              <a:t>结构化路由</a:t>
            </a:r>
            <a:endParaRPr lang="en-US" sz="1500"/>
          </a:p>
        </p:txBody>
      </p:sp>
      <p:sp>
        <p:nvSpPr>
          <p:cNvPr id="12" name="s2-desc"/>
          <p:cNvSpPr txBox="1"/>
          <p:nvPr/>
        </p:nvSpPr>
        <p:spPr>
          <a:xfrm>
            <a:off x="4572000" y="23622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Router / Supervisor 由 DeepSeek 生成执行计划，输出经严格 Schema 校验，失败即拒绝。</a:t>
            </a:r>
            <a:endParaRPr lang="en-US" sz="1150"/>
          </a:p>
        </p:txBody>
      </p:sp>
      <p:sp>
        <p:nvSpPr>
          <p:cNvPr id="13" name="s2-arrow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8102600" y="2032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A6F76"/>
          </a:solidFill>
          <a:ln>
            <a:noFill/>
          </a:ln>
        </p:spPr>
      </p:sp>
      <p:sp>
        <p:nvSpPr>
          <p:cNvPr id="14" name="s3-num"/>
          <p:cNvSpPr txBox="1"/>
          <p:nvPr/>
        </p:nvSpPr>
        <p:spPr>
          <a:xfrm>
            <a:off x="8331200" y="19050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173F35"/>
                </a:solidFill>
                <a:latin typeface="Liter"/>
                <a:ea typeface="Liter"/>
              </a:rPr>
              <a:t>03</a:t>
            </a:r>
            <a:endParaRPr lang="en-US" sz="1600"/>
          </a:p>
        </p:txBody>
      </p:sp>
      <p:sp>
        <p:nvSpPr>
          <p:cNvPr id="15" name="s3-title"/>
          <p:cNvSpPr txBox="1"/>
          <p:nvPr/>
        </p:nvSpPr>
        <p:spPr>
          <a:xfrm>
            <a:off x="8940800" y="1930400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C1F24"/>
                </a:solidFill>
                <a:latin typeface="MiSans"/>
                <a:ea typeface="MiSans"/>
              </a:rPr>
              <a:t>Tool 网关执行</a:t>
            </a:r>
            <a:endParaRPr lang="en-US" sz="1500"/>
          </a:p>
        </p:txBody>
      </p:sp>
      <p:sp>
        <p:nvSpPr>
          <p:cNvPr id="16" name="s3-desc"/>
          <p:cNvSpPr txBox="1"/>
          <p:nvPr/>
        </p:nvSpPr>
        <p:spPr>
          <a:xfrm>
            <a:off x="8331200" y="23622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17 个真实业务适配器（知识 / 服务 / 社区 / 治理），Mock 仅兜底目录外工具。</a:t>
            </a:r>
            <a:endParaRPr lang="en-US" sz="1150"/>
          </a:p>
        </p:txBody>
      </p:sp>
      <p:sp>
        <p:nvSpPr>
          <p:cNvPr id="17" name="s3-arrow-down"/>
          <p:cNvSpPr/>
          <p:nvPr>
            <p:extLst>
              <p:ext uri="{F5677B7D-0D2A-4D9B-9A5C-6D8D7D0E5A5D}">
                <pptd:icon encoding="base64url">eyJpY29uTmFtZSI6ImZhczphbmdsZS1kb3duIn0</pptd:icon>
              </p:ext>
            </p:extLst>
          </p:nvPr>
        </p:nvSpPr>
        <p:spPr>
          <a:xfrm>
            <a:off x="10160000" y="3327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6A6F76"/>
          </a:solidFill>
          <a:ln>
            <a:noFill/>
          </a:ln>
        </p:spPr>
      </p:sp>
      <p:sp>
        <p:nvSpPr>
          <p:cNvPr id="18" name="s4-num"/>
          <p:cNvSpPr txBox="1"/>
          <p:nvPr/>
        </p:nvSpPr>
        <p:spPr>
          <a:xfrm>
            <a:off x="8331200" y="37084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173F35"/>
                </a:solidFill>
                <a:latin typeface="Liter"/>
                <a:ea typeface="Liter"/>
              </a:rPr>
              <a:t>04</a:t>
            </a:r>
            <a:endParaRPr lang="en-US" sz="1600"/>
          </a:p>
        </p:txBody>
      </p:sp>
      <p:sp>
        <p:nvSpPr>
          <p:cNvPr id="19" name="s4-title"/>
          <p:cNvSpPr txBox="1"/>
          <p:nvPr/>
        </p:nvSpPr>
        <p:spPr>
          <a:xfrm>
            <a:off x="8940800" y="3733800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C1F24"/>
                </a:solidFill>
                <a:latin typeface="MiSans"/>
                <a:ea typeface="MiSans"/>
              </a:rPr>
              <a:t>风险审批</a:t>
            </a:r>
            <a:endParaRPr lang="en-US" sz="1500"/>
          </a:p>
        </p:txBody>
      </p:sp>
      <p:sp>
        <p:nvSpPr>
          <p:cNvPr id="20" name="s4-desc"/>
          <p:cNvSpPr txBox="1"/>
          <p:nvPr/>
        </p:nvSpPr>
        <p:spPr>
          <a:xfrm>
            <a:off x="8331200" y="41656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R2 / R3 工具首次调用返回 202 审批摘要；批准后的相同调用只消费一次审批。</a:t>
            </a:r>
            <a:endParaRPr lang="en-US" sz="1150"/>
          </a:p>
        </p:txBody>
      </p:sp>
      <p:sp>
        <p:nvSpPr>
          <p:cNvPr id="21" name="s4-arrow"/>
          <p:cNvSpPr/>
          <p:nvPr>
            <p:extLst>
              <p:ext uri="{F5677B7D-0D2A-4D9B-9A5C-6D8D7D0E5A5D}">
                <pptd:icon encoding="base64url">eyJpY29uTmFtZSI6ImZhczphbmdsZS1sZWZ0In0</pptd:icon>
              </p:ext>
            </p:extLst>
          </p:nvPr>
        </p:nvSpPr>
        <p:spPr>
          <a:xfrm>
            <a:off x="8102600" y="3835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9" y="233"/>
                </a:moveTo>
                <a:cubicBezTo>
                  <a:pt x="-3" y="246"/>
                  <a:pt x="-3" y="266"/>
                  <a:pt x="9" y="279"/>
                </a:cubicBezTo>
                <a:lnTo>
                  <a:pt x="169" y="439"/>
                </a:lnTo>
                <a:cubicBezTo>
                  <a:pt x="182" y="451"/>
                  <a:pt x="202" y="451"/>
                  <a:pt x="215" y="439"/>
                </a:cubicBezTo>
                <a:cubicBezTo>
                  <a:pt x="227" y="426"/>
                  <a:pt x="227" y="406"/>
                  <a:pt x="215" y="393"/>
                </a:cubicBezTo>
                <a:lnTo>
                  <a:pt x="77" y="256"/>
                </a:lnTo>
                <a:lnTo>
                  <a:pt x="215" y="119"/>
                </a:lnTo>
                <a:cubicBezTo>
                  <a:pt x="227" y="106"/>
                  <a:pt x="227" y="86"/>
                  <a:pt x="215" y="73"/>
                </a:cubicBezTo>
                <a:cubicBezTo>
                  <a:pt x="202" y="61"/>
                  <a:pt x="182" y="61"/>
                  <a:pt x="169" y="73"/>
                </a:cubicBezTo>
                <a:lnTo>
                  <a:pt x="9" y="233"/>
                </a:lnTo>
                <a:close/>
              </a:path>
            </a:pathLst>
          </a:custGeom>
          <a:solidFill>
            <a:srgbClr val="6A6F76"/>
          </a:solidFill>
          <a:ln>
            <a:noFill/>
          </a:ln>
        </p:spPr>
      </p:sp>
      <p:sp>
        <p:nvSpPr>
          <p:cNvPr id="22" name="s5-num"/>
          <p:cNvSpPr txBox="1"/>
          <p:nvPr/>
        </p:nvSpPr>
        <p:spPr>
          <a:xfrm>
            <a:off x="4572000" y="37084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173F35"/>
                </a:solidFill>
                <a:latin typeface="Liter"/>
                <a:ea typeface="Liter"/>
              </a:rPr>
              <a:t>05</a:t>
            </a:r>
            <a:endParaRPr lang="en-US" sz="1600"/>
          </a:p>
        </p:txBody>
      </p:sp>
      <p:sp>
        <p:nvSpPr>
          <p:cNvPr id="23" name="s5-title"/>
          <p:cNvSpPr txBox="1"/>
          <p:nvPr/>
        </p:nvSpPr>
        <p:spPr>
          <a:xfrm>
            <a:off x="5181600" y="3733800"/>
            <a:ext cx="284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C1F24"/>
                </a:solidFill>
                <a:latin typeface="MiSans"/>
                <a:ea typeface="MiSans"/>
              </a:rPr>
              <a:t>断点与恢复</a:t>
            </a:r>
            <a:endParaRPr lang="en-US" sz="1500"/>
          </a:p>
        </p:txBody>
      </p:sp>
      <p:sp>
        <p:nvSpPr>
          <p:cNvPr id="24" name="s5-desc"/>
          <p:cNvSpPr txBox="1"/>
          <p:nvPr/>
        </p:nvSpPr>
        <p:spPr>
          <a:xfrm>
            <a:off x="4572000" y="41656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Checkpoint 采用 CAS 乐观锁 + HMAC 签名；60 秒租约到期，崩溃 Run 由其他 Worker 接管。</a:t>
            </a:r>
            <a:endParaRPr lang="en-US" sz="1150"/>
          </a:p>
        </p:txBody>
      </p:sp>
      <p:sp>
        <p:nvSpPr>
          <p:cNvPr id="25" name="s5-arrow"/>
          <p:cNvSpPr/>
          <p:nvPr>
            <p:extLst>
              <p:ext uri="{F5677B7D-0D2A-4D9B-9A5C-6D8D7D0E5A5D}">
                <pptd:icon encoding="base64url">eyJpY29uTmFtZSI6ImZhczphbmdsZS1sZWZ0In0</pptd:icon>
              </p:ext>
            </p:extLst>
          </p:nvPr>
        </p:nvSpPr>
        <p:spPr>
          <a:xfrm>
            <a:off x="4343400" y="3835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9" y="233"/>
                </a:moveTo>
                <a:cubicBezTo>
                  <a:pt x="-3" y="246"/>
                  <a:pt x="-3" y="266"/>
                  <a:pt x="9" y="279"/>
                </a:cubicBezTo>
                <a:lnTo>
                  <a:pt x="169" y="439"/>
                </a:lnTo>
                <a:cubicBezTo>
                  <a:pt x="182" y="451"/>
                  <a:pt x="202" y="451"/>
                  <a:pt x="215" y="439"/>
                </a:cubicBezTo>
                <a:cubicBezTo>
                  <a:pt x="227" y="426"/>
                  <a:pt x="227" y="406"/>
                  <a:pt x="215" y="393"/>
                </a:cubicBezTo>
                <a:lnTo>
                  <a:pt x="77" y="256"/>
                </a:lnTo>
                <a:lnTo>
                  <a:pt x="215" y="119"/>
                </a:lnTo>
                <a:cubicBezTo>
                  <a:pt x="227" y="106"/>
                  <a:pt x="227" y="86"/>
                  <a:pt x="215" y="73"/>
                </a:cubicBezTo>
                <a:cubicBezTo>
                  <a:pt x="202" y="61"/>
                  <a:pt x="182" y="61"/>
                  <a:pt x="169" y="73"/>
                </a:cubicBezTo>
                <a:lnTo>
                  <a:pt x="9" y="233"/>
                </a:lnTo>
                <a:close/>
              </a:path>
            </a:pathLst>
          </a:custGeom>
          <a:solidFill>
            <a:srgbClr val="6A6F76"/>
          </a:solidFill>
          <a:ln>
            <a:noFill/>
          </a:ln>
        </p:spPr>
      </p:sp>
      <p:sp>
        <p:nvSpPr>
          <p:cNvPr id="26" name="s6-num"/>
          <p:cNvSpPr txBox="1"/>
          <p:nvPr/>
        </p:nvSpPr>
        <p:spPr>
          <a:xfrm>
            <a:off x="812800" y="37084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173F35"/>
                </a:solidFill>
                <a:latin typeface="Liter"/>
                <a:ea typeface="Liter"/>
              </a:rPr>
              <a:t>06</a:t>
            </a:r>
            <a:endParaRPr lang="en-US" sz="1600"/>
          </a:p>
        </p:txBody>
      </p:sp>
      <p:sp>
        <p:nvSpPr>
          <p:cNvPr id="27" name="s6-title"/>
          <p:cNvSpPr txBox="1"/>
          <p:nvPr/>
        </p:nvSpPr>
        <p:spPr>
          <a:xfrm>
            <a:off x="1422400" y="3733800"/>
            <a:ext cx="284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C1F24"/>
                </a:solidFill>
                <a:latin typeface="MiSans"/>
                <a:ea typeface="MiSans"/>
              </a:rPr>
              <a:t>事件下行与限流</a:t>
            </a:r>
            <a:endParaRPr lang="en-US" sz="1500"/>
          </a:p>
        </p:txBody>
      </p:sp>
      <p:sp>
        <p:nvSpPr>
          <p:cNvPr id="28" name="s6-desc"/>
          <p:cNvSpPr txBox="1"/>
          <p:nvPr/>
        </p:nvSpPr>
        <p:spPr>
          <a:xfrm>
            <a:off x="812800" y="41656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SSE 事件流支持 Last-Event-ID 断点重放；用户 / IP 双维限流，超限 429 + Retry-After。</a:t>
            </a:r>
            <a:endParaRPr lang="en-US" sz="1150"/>
          </a:p>
        </p:txBody>
      </p:sp>
      <p:sp>
        <p:nvSpPr>
          <p:cNvPr id="29" name="verify-line"/>
          <p:cNvSpPr/>
          <p:nvPr/>
        </p:nvSpPr>
        <p:spPr>
          <a:xfrm>
            <a:off x="812800" y="53848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30" name="verify-label"/>
          <p:cNvSpPr txBox="1"/>
          <p:nvPr/>
        </p:nvSpPr>
        <p:spPr>
          <a:xfrm>
            <a:off x="812800" y="5588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73F35"/>
                </a:solidFill>
                <a:latin typeface="MiSans"/>
                <a:ea typeface="MiSans"/>
              </a:rPr>
              <a:t>可靠性验证</a:t>
            </a:r>
            <a:endParaRPr lang="en-US" sz="1300"/>
          </a:p>
        </p:txBody>
      </p:sp>
      <p:sp>
        <p:nvSpPr>
          <p:cNvPr id="31" name="verify-text"/>
          <p:cNvSpPr txBox="1"/>
          <p:nvPr/>
        </p:nvSpPr>
        <p:spPr>
          <a:xfrm>
            <a:off x="2413000" y="5588000"/>
            <a:ext cx="8966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双 Worker 并发领取探针 · Checkpoint 崩溃恢复探针 · 限流探针 · Provider 故障矩阵探针（scripts/verify-*.ps1，真实环境可重复执行）。</a:t>
            </a:r>
            <a:endParaRPr lang="en-US" sz="1150"/>
          </a:p>
        </p:txBody>
      </p:sp>
      <p:sp>
        <p:nvSpPr>
          <p:cNvPr id="32" name="foot-left"/>
          <p:cNvSpPr txBox="1"/>
          <p:nvPr/>
        </p:nvSpPr>
        <p:spPr>
          <a:xfrm>
            <a:off x="8128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CampusPilot · 软件工程课程答辩</a:t>
            </a:r>
            <a:endParaRPr lang="en-US" sz="950"/>
          </a:p>
        </p:txBody>
      </p:sp>
      <p:sp>
        <p:nvSpPr>
          <p:cNvPr id="33" name="foot-page"/>
          <p:cNvSpPr txBox="1"/>
          <p:nvPr/>
        </p:nvSpPr>
        <p:spPr>
          <a:xfrm>
            <a:off x="10414000" y="65278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07 / 14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173F35"/>
                </a:solidFill>
                <a:latin typeface="Liter"/>
                <a:ea typeface="Liter"/>
              </a:rPr>
              <a:t>05 · 研发过程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C1F24"/>
                </a:solidFill>
                <a:latin typeface="MiSans"/>
                <a:ea typeface="MiSans"/>
              </a:rPr>
              <a:t>12 天 222 次提交：Issue 驱动，分支即模块</a:t>
            </a:r>
            <a:endParaRPr lang="en-US" sz="2800"/>
          </a:p>
        </p:txBody>
      </p:sp>
      <p:sp>
        <p:nvSpPr>
          <p:cNvPr id="4" name="title-bar"/>
          <p:cNvSpPr/>
          <p:nvPr/>
        </p:nvSpPr>
        <p:spPr>
          <a:xfrm>
            <a:off x="812800" y="1473200"/>
            <a:ext cx="558800" cy="381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5" name="title-line"/>
          <p:cNvSpPr/>
          <p:nvPr/>
        </p:nvSpPr>
        <p:spPr>
          <a:xfrm>
            <a:off x="812800" y="16002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graphicFrame>
        <p:nvGraphicFramePr>
          <p:cNvPr id="6" name="commit-chart"/>
          <p:cNvGraphicFramePr/>
          <p:nvPr/>
        </p:nvGraphicFramePr>
        <p:xfrm>
          <a:off x="711200" y="1930400"/>
          <a:ext cx="6502400" cy="4013200"/>
        </p:xfrm>
        <a:graphic>
          <a:graphicData uri="http://schemas.openxmlformats.org/drawingml/2006/chart">
            <c:chart r:id="rIdChart1"/>
          </a:graphicData>
        </a:graphic>
      </p:graphicFrame>
      <p:sp>
        <p:nvSpPr>
          <p:cNvPr id="7" name="chart-caption"/>
          <p:cNvSpPr txBox="1"/>
          <p:nvPr/>
        </p:nvSpPr>
        <p:spPr>
          <a:xfrm>
            <a:off x="812800" y="6019800"/>
            <a:ext cx="6400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6A6F76"/>
                </a:solidFill>
                <a:latin typeface="MiSans"/>
                <a:ea typeface="MiSans"/>
              </a:rPr>
              <a:t>图 1 · 每日提交分布（2026-07-14 → 07-25，git log 统计）</a:t>
            </a:r>
            <a:endParaRPr lang="en-US" sz="1000"/>
          </a:p>
        </p:txBody>
      </p:sp>
      <p:sp>
        <p:nvSpPr>
          <p:cNvPr id="8" name="stat-num"/>
          <p:cNvSpPr txBox="1"/>
          <p:nvPr/>
        </p:nvSpPr>
        <p:spPr>
          <a:xfrm>
            <a:off x="7874000" y="1930400"/>
            <a:ext cx="350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173F35"/>
                </a:solidFill>
                <a:latin typeface="Liter"/>
                <a:ea typeface="Liter"/>
              </a:rPr>
              <a:t>222</a:t>
            </a:r>
            <a:r>
              <a:rPr lang="en-US" sz="1300">
                <a:solidFill>
                  <a:srgbClr val="6A6F76"/>
                </a:solidFill>
                <a:latin typeface="MiSans"/>
                <a:ea typeface="MiSans"/>
              </a:rPr>
              <a:t>　次提交 / 12 天</a:t>
            </a:r>
            <a:endParaRPr lang="en-US" sz="1600"/>
          </a:p>
        </p:txBody>
      </p:sp>
      <p:sp>
        <p:nvSpPr>
          <p:cNvPr id="9" name="stat-line"/>
          <p:cNvSpPr/>
          <p:nvPr/>
        </p:nvSpPr>
        <p:spPr>
          <a:xfrm>
            <a:off x="7874000" y="2616200"/>
            <a:ext cx="35052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0" name="git-facts"/>
          <p:cNvSpPr txBox="1"/>
          <p:nvPr/>
        </p:nvSpPr>
        <p:spPr>
          <a:xfrm>
            <a:off x="7874000" y="2794000"/>
            <a:ext cx="3505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1C1F24"/>
                </a:solidFill>
                <a:latin typeface="MiSans"/>
                <a:ea typeface="MiSans"/>
              </a:rPr>
              <a:t>8 个分支</a:t>
            </a:r>
            <a:r>
              <a:rPr lang="en-US" sz="1200">
                <a:solidFill>
                  <a:srgbClr val="1C1F24"/>
                </a:solidFill>
                <a:latin typeface="MiSans"/>
                <a:ea typeface="MiSans"/>
              </a:rPr>
              <a:t>：main + m1–m5 + frontend + integration</a:t>
            </a:r>
            <a:endParaRPr lang="en-US" sz="120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b="1">
                <a:solidFill>
                  <a:srgbClr val="1C1F24"/>
                </a:solidFill>
                <a:latin typeface="MiSans"/>
                <a:ea typeface="MiSans"/>
              </a:rPr>
              <a:t>11 次迁移</a:t>
            </a:r>
            <a:r>
              <a:rPr lang="en-US" sz="1200">
                <a:solidFill>
                  <a:srgbClr val="1C1F24"/>
                </a:solidFill>
                <a:latin typeface="MiSans"/>
                <a:ea typeface="MiSans"/>
              </a:rPr>
              <a:t>：Alembic 0001–0011，保持唯一 Head</a:t>
            </a:r>
            <a:endParaRPr lang="en-US" sz="120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b="1">
                <a:solidFill>
                  <a:srgbClr val="1C1F24"/>
                </a:solidFill>
                <a:latin typeface="MiSans"/>
                <a:ea typeface="MiSans"/>
              </a:rPr>
              <a:t>6 位贡献者</a:t>
            </a:r>
            <a:r>
              <a:rPr lang="en-US" sz="1200">
                <a:solidFill>
                  <a:srgbClr val="1C1F24"/>
                </a:solidFill>
                <a:latin typeface="MiSans"/>
                <a:ea typeface="MiSans"/>
              </a:rPr>
              <a:t>：组长账号 194 次（含集成修复）</a:t>
            </a:r>
            <a:endParaRPr lang="en-US" sz="1200"/>
          </a:p>
        </p:txBody>
      </p:sp>
      <p:sp>
        <p:nvSpPr>
          <p:cNvPr id="11" name="rule-label"/>
          <p:cNvSpPr txBox="1"/>
          <p:nvPr/>
        </p:nvSpPr>
        <p:spPr>
          <a:xfrm>
            <a:off x="7874000" y="44704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73F35"/>
                </a:solidFill>
                <a:latin typeface="MiSans"/>
                <a:ea typeface="MiSans"/>
              </a:rPr>
              <a:t>提交纪律</a:t>
            </a:r>
            <a:endParaRPr lang="en-US" sz="1300"/>
          </a:p>
        </p:txBody>
      </p:sp>
      <p:sp>
        <p:nvSpPr>
          <p:cNvPr id="12" name="rule-line"/>
          <p:cNvSpPr/>
          <p:nvPr/>
        </p:nvSpPr>
        <p:spPr>
          <a:xfrm>
            <a:off x="7874000" y="4749800"/>
            <a:ext cx="35052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3" name="rule-list"/>
          <p:cNvSpPr txBox="1"/>
          <p:nvPr/>
        </p:nvSpPr>
        <p:spPr>
          <a:xfrm>
            <a:off x="7874000" y="4902200"/>
            <a:ext cx="35052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1C1F24"/>
                </a:solidFill>
                <a:latin typeface="MiSans"/>
                <a:ea typeface="MiSans"/>
              </a:rPr>
              <a:t>· 英文 Conventional Commits，如 feat(m3): …</a:t>
            </a:r>
            <a:endParaRPr lang="en-US" sz="1200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00">
                <a:solidFill>
                  <a:srgbClr val="1C1F24"/>
                </a:solidFill>
                <a:latin typeface="MiSans"/>
                <a:ea typeface="MiSans"/>
              </a:rPr>
              <a:t>· 每次提交关联 Issue，验收通过推送后关闭</a:t>
            </a:r>
            <a:endParaRPr lang="en-US" sz="1200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00">
                <a:solidFill>
                  <a:srgbClr val="1C1F24"/>
                </a:solidFill>
                <a:latin typeface="MiSans"/>
                <a:ea typeface="MiSans"/>
              </a:rPr>
              <a:t>· Draft PR 持续交付，模块验收后转 Ready</a:t>
            </a:r>
            <a:endParaRPr lang="en-US" sz="1200"/>
          </a:p>
        </p:txBody>
      </p:sp>
      <p:sp>
        <p:nvSpPr>
          <p:cNvPr id="14" name="foot-left"/>
          <p:cNvSpPr txBox="1"/>
          <p:nvPr/>
        </p:nvSpPr>
        <p:spPr>
          <a:xfrm>
            <a:off x="8128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CampusPilot · 软件工程课程答辩</a:t>
            </a:r>
            <a:endParaRPr lang="en-US" sz="950"/>
          </a:p>
        </p:txBody>
      </p:sp>
      <p:sp>
        <p:nvSpPr>
          <p:cNvPr id="15" name="foot-page"/>
          <p:cNvSpPr txBox="1"/>
          <p:nvPr/>
        </p:nvSpPr>
        <p:spPr>
          <a:xfrm>
            <a:off x="10414000" y="65278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08 / 14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173F35"/>
                </a:solidFill>
                <a:latin typeface="Liter"/>
                <a:ea typeface="Liter"/>
              </a:rPr>
              <a:t>06 · 项目展示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C1F24"/>
                </a:solidFill>
                <a:latin typeface="MiSans"/>
                <a:ea typeface="MiSans"/>
              </a:rPr>
              <a:t>界面一览 ①：一站式入口与 AI 知识问答</a:t>
            </a:r>
            <a:endParaRPr lang="en-US" sz="2800"/>
          </a:p>
        </p:txBody>
      </p:sp>
      <p:sp>
        <p:nvSpPr>
          <p:cNvPr id="4" name="title-bar"/>
          <p:cNvSpPr/>
          <p:nvPr/>
        </p:nvSpPr>
        <p:spPr>
          <a:xfrm>
            <a:off x="812800" y="1473200"/>
            <a:ext cx="558800" cy="381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5" name="title-line"/>
          <p:cNvSpPr/>
          <p:nvPr/>
        </p:nvSpPr>
        <p:spPr>
          <a:xfrm>
            <a:off x="812800" y="16002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pic>
        <p:nvPicPr>
          <p:cNvPr id="6" name="shot1"/>
          <p:cNvPicPr/>
          <p:nvPr/>
        </p:nvPicPr>
        <p:blipFill>
          <a:blip r:embed="rIdImage1"/>
          <a:srcRect l="14" r="14"/>
          <a:stretch>
            <a:fillRect/>
          </a:stretch>
        </p:blipFill>
        <p:spPr>
          <a:xfrm>
            <a:off x="812800" y="1930400"/>
            <a:ext cx="5080000" cy="2857500"/>
          </a:xfrm>
          <a:prstGeom prst="rect">
            <a:avLst/>
          </a:prstGeom>
          <a:ln>
            <a:noFill/>
          </a:ln>
        </p:spPr>
      </p:pic>
      <p:sp>
        <p:nvSpPr>
          <p:cNvPr id="7" name="shot1-border"/>
          <p:cNvSpPr/>
          <p:nvPr/>
        </p:nvSpPr>
        <p:spPr>
          <a:xfrm>
            <a:off x="812800" y="1930400"/>
            <a:ext cx="5080000" cy="2857500"/>
          </a:xfrm>
          <a:prstGeom prst="rect">
            <a:avLst/>
          </a:prstGeom>
          <a:noFill/>
          <a:ln w="12700">
            <a:solidFill>
              <a:srgbClr val="DFDCD3"/>
            </a:solidFill>
          </a:ln>
        </p:spPr>
      </p:sp>
      <p:sp>
        <p:nvSpPr>
          <p:cNvPr id="8" name="shot1-caption"/>
          <p:cNvSpPr txBox="1"/>
          <p:nvPr/>
        </p:nvSpPr>
        <p:spPr>
          <a:xfrm>
            <a:off x="812800" y="5029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1F24"/>
                </a:solidFill>
                <a:latin typeface="MiSans"/>
                <a:ea typeface="MiSans"/>
              </a:rPr>
              <a:t>图 2 · 一站式智能助手首页</a:t>
            </a:r>
            <a:endParaRPr lang="en-US" sz="1400"/>
          </a:p>
        </p:txBody>
      </p:sp>
      <p:sp>
        <p:nvSpPr>
          <p:cNvPr id="9" name="shot1-desc"/>
          <p:cNvSpPr txBox="1"/>
          <p:nvPr/>
        </p:nvSpPr>
        <p:spPr>
          <a:xfrm>
            <a:off x="812800" y="5334000"/>
            <a:ext cx="508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校园服务、知识库、社区在同一对话入口聚合；流式输出 + 智能路由，历史对话可回溯。</a:t>
            </a:r>
            <a:endParaRPr lang="en-US" sz="1150"/>
          </a:p>
        </p:txBody>
      </p:sp>
      <p:pic>
        <p:nvPicPr>
          <p:cNvPr id="10" name="shot2"/>
          <p:cNvPicPr/>
          <p:nvPr/>
        </p:nvPicPr>
        <p:blipFill>
          <a:blip r:embed="rIdImage2"/>
          <a:srcRect l="14" r="14"/>
          <a:stretch>
            <a:fillRect/>
          </a:stretch>
        </p:blipFill>
        <p:spPr>
          <a:xfrm>
            <a:off x="6299200" y="1930400"/>
            <a:ext cx="5080000" cy="2857500"/>
          </a:xfrm>
          <a:prstGeom prst="rect">
            <a:avLst/>
          </a:prstGeom>
          <a:ln>
            <a:noFill/>
          </a:ln>
        </p:spPr>
      </p:pic>
      <p:sp>
        <p:nvSpPr>
          <p:cNvPr id="11" name="shot2-border"/>
          <p:cNvSpPr/>
          <p:nvPr/>
        </p:nvSpPr>
        <p:spPr>
          <a:xfrm>
            <a:off x="6299200" y="1930400"/>
            <a:ext cx="5080000" cy="2857500"/>
          </a:xfrm>
          <a:prstGeom prst="rect">
            <a:avLst/>
          </a:prstGeom>
          <a:noFill/>
          <a:ln w="12700">
            <a:solidFill>
              <a:srgbClr val="DFDCD3"/>
            </a:solidFill>
          </a:ln>
        </p:spPr>
      </p:sp>
      <p:sp>
        <p:nvSpPr>
          <p:cNvPr id="12" name="shot2-caption"/>
          <p:cNvSpPr txBox="1"/>
          <p:nvPr/>
        </p:nvSpPr>
        <p:spPr>
          <a:xfrm>
            <a:off x="6299200" y="5029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1F24"/>
                </a:solidFill>
                <a:latin typeface="MiSans"/>
                <a:ea typeface="MiSans"/>
              </a:rPr>
              <a:t>图 3 · AI 知识库问答</a:t>
            </a:r>
            <a:endParaRPr lang="en-US" sz="1400"/>
          </a:p>
        </p:txBody>
      </p:sp>
      <p:sp>
        <p:nvSpPr>
          <p:cNvPr id="13" name="shot2-desc"/>
          <p:cNvSpPr txBox="1"/>
          <p:nvPr/>
        </p:nvSpPr>
        <p:spPr>
          <a:xfrm>
            <a:off x="6299200" y="5334000"/>
            <a:ext cx="508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授权 RAG 检索 + 引用溯源 + SSE 流式输出；回答基于已入库文档，支持点赞 / 点踩反馈。</a:t>
            </a:r>
            <a:endParaRPr lang="en-US" sz="1150"/>
          </a:p>
        </p:txBody>
      </p:sp>
      <p:sp>
        <p:nvSpPr>
          <p:cNvPr id="14" name="demo-note"/>
          <p:cNvSpPr txBox="1"/>
          <p:nvPr/>
        </p:nvSpPr>
        <p:spPr>
          <a:xfrm>
            <a:off x="812800" y="61468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6A6F76"/>
                </a:solidFill>
                <a:latin typeface="MiSans"/>
                <a:ea typeface="MiSans"/>
              </a:rPr>
              <a:t>截图取自真实运行环境（Vue 3 前端 + FastAPI + PostgreSQL，2026-07-24）。</a:t>
            </a:r>
            <a:endParaRPr lang="en-US" sz="1000"/>
          </a:p>
        </p:txBody>
      </p:sp>
      <p:sp>
        <p:nvSpPr>
          <p:cNvPr id="15" name="foot-left"/>
          <p:cNvSpPr txBox="1"/>
          <p:nvPr/>
        </p:nvSpPr>
        <p:spPr>
          <a:xfrm>
            <a:off x="8128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CampusPilot · 软件工程课程答辩</a:t>
            </a:r>
            <a:endParaRPr lang="en-US" sz="950"/>
          </a:p>
        </p:txBody>
      </p:sp>
      <p:sp>
        <p:nvSpPr>
          <p:cNvPr id="16" name="foot-page"/>
          <p:cNvSpPr txBox="1"/>
          <p:nvPr/>
        </p:nvSpPr>
        <p:spPr>
          <a:xfrm>
            <a:off x="10414000" y="65278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09 / 14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173F35"/>
                </a:solidFill>
                <a:latin typeface="Liter"/>
                <a:ea typeface="Liter"/>
              </a:rPr>
              <a:t>06 · 项目展示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C1F24"/>
                </a:solidFill>
                <a:latin typeface="MiSans"/>
                <a:ea typeface="MiSans"/>
              </a:rPr>
              <a:t>界面一览 ②：办事写操作与智能体运行轨迹</a:t>
            </a:r>
            <a:endParaRPr lang="en-US" sz="2800"/>
          </a:p>
        </p:txBody>
      </p:sp>
      <p:sp>
        <p:nvSpPr>
          <p:cNvPr id="4" name="title-bar"/>
          <p:cNvSpPr/>
          <p:nvPr/>
        </p:nvSpPr>
        <p:spPr>
          <a:xfrm>
            <a:off x="812800" y="1473200"/>
            <a:ext cx="558800" cy="381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5" name="title-line"/>
          <p:cNvSpPr/>
          <p:nvPr/>
        </p:nvSpPr>
        <p:spPr>
          <a:xfrm>
            <a:off x="812800" y="16002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pic>
        <p:nvPicPr>
          <p:cNvPr id="6" name="shot3"/>
          <p:cNvPicPr/>
          <p:nvPr/>
        </p:nvPicPr>
        <p:blipFill>
          <a:blip r:embed="rIdImage3"/>
          <a:srcRect t="276" b="276"/>
          <a:stretch>
            <a:fillRect/>
          </a:stretch>
        </p:blipFill>
        <p:spPr>
          <a:xfrm>
            <a:off x="812800" y="1930400"/>
            <a:ext cx="5080000" cy="2857500"/>
          </a:xfrm>
          <a:prstGeom prst="rect">
            <a:avLst/>
          </a:prstGeom>
          <a:ln>
            <a:noFill/>
          </a:ln>
        </p:spPr>
      </p:pic>
      <p:sp>
        <p:nvSpPr>
          <p:cNvPr id="7" name="shot3-border"/>
          <p:cNvSpPr/>
          <p:nvPr/>
        </p:nvSpPr>
        <p:spPr>
          <a:xfrm>
            <a:off x="812800" y="1930400"/>
            <a:ext cx="5080000" cy="2857500"/>
          </a:xfrm>
          <a:prstGeom prst="rect">
            <a:avLst/>
          </a:prstGeom>
          <a:noFill/>
          <a:ln w="12700">
            <a:solidFill>
              <a:srgbClr val="DFDCD3"/>
            </a:solidFill>
          </a:ln>
        </p:spPr>
      </p:sp>
      <p:sp>
        <p:nvSpPr>
          <p:cNvPr id="8" name="shot3-caption"/>
          <p:cNvSpPr txBox="1"/>
          <p:nvPr/>
        </p:nvSpPr>
        <p:spPr>
          <a:xfrm>
            <a:off x="812800" y="5029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1F24"/>
                </a:solidFill>
                <a:latin typeface="MiSans"/>
                <a:ea typeface="MiSans"/>
              </a:rPr>
              <a:t>图 4 · 校园服务办理（电费）</a:t>
            </a:r>
            <a:endParaRPr lang="en-US" sz="1400"/>
          </a:p>
        </p:txBody>
      </p:sp>
      <p:sp>
        <p:nvSpPr>
          <p:cNvPr id="9" name="shot3-desc"/>
          <p:cNvSpPr txBox="1"/>
          <p:nvPr/>
        </p:nvSpPr>
        <p:spPr>
          <a:xfrm>
            <a:off x="812800" y="5334000"/>
            <a:ext cx="508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自然语言完成电费查询与充值；写操作触发审批确认卡片，批准后才真正执行。</a:t>
            </a:r>
            <a:endParaRPr lang="en-US" sz="1150"/>
          </a:p>
        </p:txBody>
      </p:sp>
      <p:pic>
        <p:nvPicPr>
          <p:cNvPr id="10" name="shot4"/>
          <p:cNvPicPr/>
          <p:nvPr/>
        </p:nvPicPr>
        <p:blipFill>
          <a:blip r:embed="rIdImage4"/>
          <a:srcRect l="60" r="60"/>
          <a:stretch>
            <a:fillRect/>
          </a:stretch>
        </p:blipFill>
        <p:spPr>
          <a:xfrm>
            <a:off x="6299200" y="1930400"/>
            <a:ext cx="5080000" cy="2857500"/>
          </a:xfrm>
          <a:prstGeom prst="rect">
            <a:avLst/>
          </a:prstGeom>
          <a:ln>
            <a:noFill/>
          </a:ln>
        </p:spPr>
      </p:pic>
      <p:sp>
        <p:nvSpPr>
          <p:cNvPr id="11" name="shot4-border"/>
          <p:cNvSpPr/>
          <p:nvPr/>
        </p:nvSpPr>
        <p:spPr>
          <a:xfrm>
            <a:off x="6299200" y="1930400"/>
            <a:ext cx="5080000" cy="2857500"/>
          </a:xfrm>
          <a:prstGeom prst="rect">
            <a:avLst/>
          </a:prstGeom>
          <a:noFill/>
          <a:ln w="12700">
            <a:solidFill>
              <a:srgbClr val="DFDCD3"/>
            </a:solidFill>
          </a:ln>
        </p:spPr>
      </p:sp>
      <p:sp>
        <p:nvSpPr>
          <p:cNvPr id="12" name="shot4-caption"/>
          <p:cNvSpPr txBox="1"/>
          <p:nvPr/>
        </p:nvSpPr>
        <p:spPr>
          <a:xfrm>
            <a:off x="6299200" y="5029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1F24"/>
                </a:solidFill>
                <a:latin typeface="MiSans"/>
                <a:ea typeface="MiSans"/>
              </a:rPr>
              <a:t>图 5 · 智能体运行轨迹（发布活动）</a:t>
            </a:r>
            <a:endParaRPr lang="en-US" sz="1400"/>
          </a:p>
        </p:txBody>
      </p:sp>
      <p:sp>
        <p:nvSpPr>
          <p:cNvPr id="13" name="shot4-desc"/>
          <p:cNvSpPr txBox="1"/>
          <p:nvPr/>
        </p:nvSpPr>
        <p:spPr>
          <a:xfrm>
            <a:off x="6299200" y="5334000"/>
            <a:ext cx="508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路由决策（community，置信度 0.98）→ 审批 → 完成，步骤编号全程可追溯、可重放。</a:t>
            </a:r>
            <a:endParaRPr lang="en-US" sz="1150"/>
          </a:p>
        </p:txBody>
      </p:sp>
      <p:sp>
        <p:nvSpPr>
          <p:cNvPr id="14" name="demo-note"/>
          <p:cNvSpPr txBox="1"/>
          <p:nvPr/>
        </p:nvSpPr>
        <p:spPr>
          <a:xfrm>
            <a:off x="812800" y="61468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6A6F76"/>
                </a:solidFill>
                <a:latin typeface="MiSans"/>
                <a:ea typeface="MiSans"/>
              </a:rPr>
              <a:t>截图取自真实运行环境（Vue 3 前端 + FastAPI + PostgreSQL，2026-07-24/25）。</a:t>
            </a:r>
            <a:endParaRPr lang="en-US" sz="1000"/>
          </a:p>
        </p:txBody>
      </p:sp>
      <p:sp>
        <p:nvSpPr>
          <p:cNvPr id="15" name="foot-left"/>
          <p:cNvSpPr txBox="1"/>
          <p:nvPr/>
        </p:nvSpPr>
        <p:spPr>
          <a:xfrm>
            <a:off x="8128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CampusPilot · 软件工程课程答辩</a:t>
            </a:r>
            <a:endParaRPr lang="en-US" sz="950"/>
          </a:p>
        </p:txBody>
      </p:sp>
      <p:sp>
        <p:nvSpPr>
          <p:cNvPr id="16" name="foot-page"/>
          <p:cNvSpPr txBox="1"/>
          <p:nvPr/>
        </p:nvSpPr>
        <p:spPr>
          <a:xfrm>
            <a:off x="10414000" y="65278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10 / 14</a:t>
            </a:r>
            <a:endParaRPr lang="en-US" sz="95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173F35"/>
                </a:solidFill>
                <a:latin typeface="Liter"/>
                <a:ea typeface="Liter"/>
              </a:rPr>
              <a:t>07 · 测试与质量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C1F24"/>
                </a:solidFill>
                <a:latin typeface="MiSans"/>
                <a:ea typeface="MiSans"/>
              </a:rPr>
              <a:t>可验证的质量：测试、契约与真实环境三重保障</a:t>
            </a:r>
            <a:endParaRPr lang="en-US" sz="2800"/>
          </a:p>
        </p:txBody>
      </p:sp>
      <p:sp>
        <p:nvSpPr>
          <p:cNvPr id="4" name="title-bar"/>
          <p:cNvSpPr/>
          <p:nvPr/>
        </p:nvSpPr>
        <p:spPr>
          <a:xfrm>
            <a:off x="812800" y="1473200"/>
            <a:ext cx="558800" cy="381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5" name="title-line"/>
          <p:cNvSpPr/>
          <p:nvPr/>
        </p:nvSpPr>
        <p:spPr>
          <a:xfrm>
            <a:off x="812800" y="16002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6" name="n1"/>
          <p:cNvSpPr txBox="1"/>
          <p:nvPr/>
        </p:nvSpPr>
        <p:spPr>
          <a:xfrm>
            <a:off x="812800" y="1930400"/>
            <a:ext cx="2235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73F35"/>
                </a:solidFill>
                <a:latin typeface="Liter"/>
                <a:ea typeface="Liter"/>
              </a:rPr>
              <a:t>809</a:t>
            </a:r>
            <a:endParaRPr lang="en-US" sz="1600"/>
          </a:p>
        </p:txBody>
      </p:sp>
      <p:sp>
        <p:nvSpPr>
          <p:cNvPr id="7" name="n1-label"/>
          <p:cNvSpPr txBox="1"/>
          <p:nvPr/>
        </p:nvSpPr>
        <p:spPr>
          <a:xfrm>
            <a:off x="812800" y="2565400"/>
            <a:ext cx="2235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后端 pytest 全部通过（161 个测试文件）</a:t>
            </a:r>
            <a:endParaRPr lang="en-US" sz="1150"/>
          </a:p>
        </p:txBody>
      </p:sp>
      <p:sp>
        <p:nvSpPr>
          <p:cNvPr id="8" name="sep1"/>
          <p:cNvSpPr/>
          <p:nvPr/>
        </p:nvSpPr>
        <p:spPr>
          <a:xfrm>
            <a:off x="3200400" y="2032000"/>
            <a:ext cx="12700" cy="9144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3505200" y="1930400"/>
            <a:ext cx="2235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73F35"/>
                </a:solidFill>
                <a:latin typeface="Liter"/>
                <a:ea typeface="Liter"/>
              </a:rPr>
              <a:t>98</a:t>
            </a:r>
            <a:endParaRPr lang="en-US" sz="1600"/>
          </a:p>
        </p:txBody>
      </p:sp>
      <p:sp>
        <p:nvSpPr>
          <p:cNvPr id="10" name="n2-label"/>
          <p:cNvSpPr txBox="1"/>
          <p:nvPr/>
        </p:nvSpPr>
        <p:spPr>
          <a:xfrm>
            <a:off x="3505200" y="2565400"/>
            <a:ext cx="2235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前端 Vitest 单元测试（18 个测试文件）</a:t>
            </a:r>
            <a:endParaRPr lang="en-US" sz="1150"/>
          </a:p>
        </p:txBody>
      </p:sp>
      <p:sp>
        <p:nvSpPr>
          <p:cNvPr id="11" name="sep2"/>
          <p:cNvSpPr/>
          <p:nvPr/>
        </p:nvSpPr>
        <p:spPr>
          <a:xfrm>
            <a:off x="5892800" y="2032000"/>
            <a:ext cx="12700" cy="9144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2" name="n3"/>
          <p:cNvSpPr txBox="1"/>
          <p:nvPr/>
        </p:nvSpPr>
        <p:spPr>
          <a:xfrm>
            <a:off x="6197600" y="1930400"/>
            <a:ext cx="2235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73F35"/>
                </a:solidFill>
                <a:latin typeface="Liter"/>
                <a:ea typeface="Liter"/>
              </a:rPr>
              <a:t>68</a:t>
            </a:r>
            <a:endParaRPr lang="en-US" sz="1600"/>
          </a:p>
        </p:txBody>
      </p:sp>
      <p:sp>
        <p:nvSpPr>
          <p:cNvPr id="13" name="n3-label"/>
          <p:cNvSpPr txBox="1"/>
          <p:nvPr/>
        </p:nvSpPr>
        <p:spPr>
          <a:xfrm>
            <a:off x="6197600" y="2565400"/>
            <a:ext cx="2235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跨模块冒烟检查 · 0 失败</a:t>
            </a:r>
            <a:endParaRPr lang="en-US" sz="1150"/>
          </a:p>
        </p:txBody>
      </p:sp>
      <p:sp>
        <p:nvSpPr>
          <p:cNvPr id="14" name="sep3"/>
          <p:cNvSpPr/>
          <p:nvPr/>
        </p:nvSpPr>
        <p:spPr>
          <a:xfrm>
            <a:off x="8585200" y="2032000"/>
            <a:ext cx="12700" cy="9144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5" name="n4"/>
          <p:cNvSpPr txBox="1"/>
          <p:nvPr/>
        </p:nvSpPr>
        <p:spPr>
          <a:xfrm>
            <a:off x="8890000" y="1930400"/>
            <a:ext cx="2489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73F35"/>
                </a:solidFill>
                <a:latin typeface="Liter"/>
                <a:ea typeface="Liter"/>
              </a:rPr>
              <a:t>136</a:t>
            </a:r>
            <a:endParaRPr lang="en-US" sz="1600"/>
          </a:p>
        </p:txBody>
      </p:sp>
      <p:sp>
        <p:nvSpPr>
          <p:cNvPr id="16" name="n4-label"/>
          <p:cNvSpPr txBox="1"/>
          <p:nvPr/>
        </p:nvSpPr>
        <p:spPr>
          <a:xfrm>
            <a:off x="8890000" y="2565400"/>
            <a:ext cx="2489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6A6F76"/>
                </a:solidFill>
                <a:latin typeface="MiSans"/>
                <a:ea typeface="MiSans"/>
              </a:rPr>
              <a:t>OpenAPI 契约操作 · Redocly lint 通过</a:t>
            </a:r>
            <a:endParaRPr lang="en-US" sz="1150"/>
          </a:p>
        </p:txBody>
      </p:sp>
      <p:sp>
        <p:nvSpPr>
          <p:cNvPr id="17" name="mid-line"/>
          <p:cNvSpPr/>
          <p:nvPr/>
        </p:nvSpPr>
        <p:spPr>
          <a:xfrm>
            <a:off x="812800" y="32766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8" name="qa1-label"/>
          <p:cNvSpPr txBox="1"/>
          <p:nvPr/>
        </p:nvSpPr>
        <p:spPr>
          <a:xfrm>
            <a:off x="812800" y="3530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73F35"/>
                </a:solidFill>
                <a:latin typeface="MiSans"/>
                <a:ea typeface="MiSans"/>
              </a:rPr>
              <a:t>测试策略（隔离外部依赖）</a:t>
            </a:r>
            <a:endParaRPr lang="en-US" sz="1300"/>
          </a:p>
        </p:txBody>
      </p:sp>
      <p:sp>
        <p:nvSpPr>
          <p:cNvPr id="19" name="qa1-list"/>
          <p:cNvSpPr txBox="1"/>
          <p:nvPr/>
        </p:nvSpPr>
        <p:spPr>
          <a:xfrm>
            <a:off x="812800" y="3835400"/>
            <a:ext cx="5080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· TestClient + 依赖覆盖 + Stub / Fake，不依赖真实 PG / Redis / LLM / GPU</a:t>
            </a:r>
            <a:endParaRPr lang="en-US" sz="125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· RAG 评测集冻结 30 条（tests/fixtures），结果可复现</a:t>
            </a:r>
            <a:endParaRPr lang="en-US" sz="125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· 前端静态门禁：禁手写 API 路径、禁浏览器持久化</a:t>
            </a:r>
            <a:endParaRPr lang="en-US" sz="125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· 3 例 Playwright 真实浏览器端到端测试</a:t>
            </a:r>
            <a:endParaRPr lang="en-US" sz="1250"/>
          </a:p>
        </p:txBody>
      </p:sp>
      <p:sp>
        <p:nvSpPr>
          <p:cNvPr id="20" name="qa2-label"/>
          <p:cNvSpPr txBox="1"/>
          <p:nvPr/>
        </p:nvSpPr>
        <p:spPr>
          <a:xfrm>
            <a:off x="6299200" y="3530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73F35"/>
                </a:solidFill>
                <a:latin typeface="MiSans"/>
                <a:ea typeface="MiSans"/>
              </a:rPr>
              <a:t>真实环境验证（非 Mock）</a:t>
            </a:r>
            <a:endParaRPr lang="en-US" sz="1300"/>
          </a:p>
        </p:txBody>
      </p:sp>
      <p:sp>
        <p:nvSpPr>
          <p:cNvPr id="21" name="qa2-list"/>
          <p:cNvSpPr txBox="1"/>
          <p:nvPr/>
        </p:nvSpPr>
        <p:spPr>
          <a:xfrm>
            <a:off x="6299200" y="3835400"/>
            <a:ext cx="5080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· 真实空库迁移 升 → 降 → 升，全程无人工干预</a:t>
            </a:r>
            <a:endParaRPr lang="en-US" sz="125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· M1 端到端：上传 → 入库 → 检索 → REST / SSE → Tool</a:t>
            </a:r>
            <a:endParaRPr lang="en-US" sz="125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· M5 并发领取 / 崩溃恢复 / 限流 / Provider 故障矩阵</a:t>
            </a:r>
            <a:endParaRPr lang="en-US" sz="125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· Docker Compose 全栈部署 + 6 个可重复探针脚本</a:t>
            </a:r>
            <a:endParaRPr lang="en-US" sz="1250"/>
          </a:p>
        </p:txBody>
      </p:sp>
      <p:sp>
        <p:nvSpPr>
          <p:cNvPr id="22" name="foot-left"/>
          <p:cNvSpPr txBox="1"/>
          <p:nvPr/>
        </p:nvSpPr>
        <p:spPr>
          <a:xfrm>
            <a:off x="8128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CampusPilot · 软件工程课程答辩</a:t>
            </a:r>
            <a:endParaRPr lang="en-US" sz="950"/>
          </a:p>
        </p:txBody>
      </p:sp>
      <p:sp>
        <p:nvSpPr>
          <p:cNvPr id="23" name="foot-page"/>
          <p:cNvSpPr txBox="1"/>
          <p:nvPr/>
        </p:nvSpPr>
        <p:spPr>
          <a:xfrm>
            <a:off x="10414000" y="65278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11 / 14</a:t>
            </a:r>
            <a:endParaRPr lang="en-US" sz="95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173F35"/>
                </a:solidFill>
                <a:latin typeface="Liter"/>
                <a:ea typeface="Liter"/>
              </a:rPr>
              <a:t>08 · 亮点与反思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C1F24"/>
                </a:solidFill>
                <a:latin typeface="MiSans"/>
                <a:ea typeface="MiSans"/>
              </a:rPr>
              <a:t>五个工程亮点</a:t>
            </a:r>
            <a:endParaRPr lang="en-US" sz="2800"/>
          </a:p>
        </p:txBody>
      </p:sp>
      <p:sp>
        <p:nvSpPr>
          <p:cNvPr id="4" name="title-bar"/>
          <p:cNvSpPr/>
          <p:nvPr/>
        </p:nvSpPr>
        <p:spPr>
          <a:xfrm>
            <a:off x="812800" y="1473200"/>
            <a:ext cx="558800" cy="381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5" name="title-line"/>
          <p:cNvSpPr/>
          <p:nvPr/>
        </p:nvSpPr>
        <p:spPr>
          <a:xfrm>
            <a:off x="812800" y="16002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6" name="h1-num"/>
          <p:cNvSpPr txBox="1"/>
          <p:nvPr/>
        </p:nvSpPr>
        <p:spPr>
          <a:xfrm>
            <a:off x="812800" y="18796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01</a:t>
            </a:r>
            <a:endParaRPr lang="en-US" sz="1600"/>
          </a:p>
        </p:txBody>
      </p:sp>
      <p:sp>
        <p:nvSpPr>
          <p:cNvPr id="7" name="h1-title"/>
          <p:cNvSpPr txBox="1"/>
          <p:nvPr/>
        </p:nvSpPr>
        <p:spPr>
          <a:xfrm>
            <a:off x="1422400" y="1892300"/>
            <a:ext cx="7010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50" b="1">
                <a:solidFill>
                  <a:srgbClr val="1C1F24"/>
                </a:solidFill>
                <a:latin typeface="MiSans"/>
                <a:ea typeface="MiSans"/>
              </a:rPr>
              <a:t>契约驱动开发</a:t>
            </a:r>
            <a:endParaRPr lang="en-US" sz="1550"/>
          </a:p>
        </p:txBody>
      </p:sp>
      <p:sp>
        <p:nvSpPr>
          <p:cNvPr id="8" name="h1-desc"/>
          <p:cNvSpPr txBox="1"/>
          <p:nvPr/>
        </p:nvSpPr>
        <p:spPr>
          <a:xfrm>
            <a:off x="1422400" y="2209800"/>
            <a:ext cx="7010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6A6F76"/>
                </a:solidFill>
                <a:latin typeface="MiSans"/>
                <a:ea typeface="MiSans"/>
              </a:rPr>
              <a:t>openapi.yaml 为唯一事实源；前端 SDK 自动生成并 CI 零漂移校验，136 个 operationId 保持稳定。</a:t>
            </a:r>
            <a:endParaRPr lang="en-US" sz="1200"/>
          </a:p>
        </p:txBody>
      </p:sp>
      <p:sp>
        <p:nvSpPr>
          <p:cNvPr id="9" name="h1-line"/>
          <p:cNvSpPr/>
          <p:nvPr/>
        </p:nvSpPr>
        <p:spPr>
          <a:xfrm>
            <a:off x="812800" y="2717800"/>
            <a:ext cx="7620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0" name="h2-num"/>
          <p:cNvSpPr txBox="1"/>
          <p:nvPr/>
        </p:nvSpPr>
        <p:spPr>
          <a:xfrm>
            <a:off x="812800" y="28448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02</a:t>
            </a:r>
            <a:endParaRPr lang="en-US" sz="1600"/>
          </a:p>
        </p:txBody>
      </p:sp>
      <p:sp>
        <p:nvSpPr>
          <p:cNvPr id="11" name="h2-title"/>
          <p:cNvSpPr txBox="1"/>
          <p:nvPr/>
        </p:nvSpPr>
        <p:spPr>
          <a:xfrm>
            <a:off x="1422400" y="2857500"/>
            <a:ext cx="7010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50" b="1">
                <a:solidFill>
                  <a:srgbClr val="1C1F24"/>
                </a:solidFill>
                <a:latin typeface="MiSans"/>
                <a:ea typeface="MiSans"/>
              </a:rPr>
              <a:t>真实闭环，拒绝 Mock 堆砌</a:t>
            </a:r>
            <a:endParaRPr lang="en-US" sz="1550"/>
          </a:p>
        </p:txBody>
      </p:sp>
      <p:sp>
        <p:nvSpPr>
          <p:cNvPr id="12" name="h2-desc"/>
          <p:cNvSpPr txBox="1"/>
          <p:nvPr/>
        </p:nvSpPr>
        <p:spPr>
          <a:xfrm>
            <a:off x="1422400" y="3175000"/>
            <a:ext cx="7010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6A6F76"/>
                </a:solidFill>
                <a:latin typeface="MiSans"/>
                <a:ea typeface="MiSans"/>
              </a:rPr>
              <a:t>17 个真实业务 Tool 适配器接入 Run 编排；评估指标只来自真实执行，Provider 不可用即明确失败，不伪造数据。</a:t>
            </a:r>
            <a:endParaRPr lang="en-US" sz="1200"/>
          </a:p>
        </p:txBody>
      </p:sp>
      <p:sp>
        <p:nvSpPr>
          <p:cNvPr id="13" name="h2-line"/>
          <p:cNvSpPr/>
          <p:nvPr/>
        </p:nvSpPr>
        <p:spPr>
          <a:xfrm>
            <a:off x="812800" y="3683000"/>
            <a:ext cx="7620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4" name="h3-num"/>
          <p:cNvSpPr txBox="1"/>
          <p:nvPr/>
        </p:nvSpPr>
        <p:spPr>
          <a:xfrm>
            <a:off x="812800" y="38100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03</a:t>
            </a:r>
            <a:endParaRPr lang="en-US" sz="1600"/>
          </a:p>
        </p:txBody>
      </p:sp>
      <p:sp>
        <p:nvSpPr>
          <p:cNvPr id="15" name="h3-title"/>
          <p:cNvSpPr txBox="1"/>
          <p:nvPr/>
        </p:nvSpPr>
        <p:spPr>
          <a:xfrm>
            <a:off x="1422400" y="3822700"/>
            <a:ext cx="7010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50" b="1">
                <a:solidFill>
                  <a:srgbClr val="1C1F24"/>
                </a:solidFill>
                <a:latin typeface="MiSans"/>
                <a:ea typeface="MiSans"/>
              </a:rPr>
              <a:t>可靠性工程</a:t>
            </a:r>
            <a:endParaRPr lang="en-US" sz="1550"/>
          </a:p>
        </p:txBody>
      </p:sp>
      <p:sp>
        <p:nvSpPr>
          <p:cNvPr id="16" name="h3-desc"/>
          <p:cNvSpPr txBox="1"/>
          <p:nvPr/>
        </p:nvSpPr>
        <p:spPr>
          <a:xfrm>
            <a:off x="1422400" y="4140200"/>
            <a:ext cx="7010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6A6F76"/>
                </a:solidFill>
                <a:latin typeface="MiSans"/>
                <a:ea typeface="MiSans"/>
              </a:rPr>
              <a:t>事务 Outbox、Checkpoint CAS + HMAC 签名与 60s 租约恢复、用户 / IP 双维限流、SSE 断点重放。</a:t>
            </a:r>
            <a:endParaRPr lang="en-US" sz="1200"/>
          </a:p>
        </p:txBody>
      </p:sp>
      <p:sp>
        <p:nvSpPr>
          <p:cNvPr id="17" name="h3-line"/>
          <p:cNvSpPr/>
          <p:nvPr/>
        </p:nvSpPr>
        <p:spPr>
          <a:xfrm>
            <a:off x="812800" y="4648200"/>
            <a:ext cx="7620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18" name="h4-num"/>
          <p:cNvSpPr txBox="1"/>
          <p:nvPr/>
        </p:nvSpPr>
        <p:spPr>
          <a:xfrm>
            <a:off x="812800" y="47752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04</a:t>
            </a:r>
            <a:endParaRPr lang="en-US" sz="1600"/>
          </a:p>
        </p:txBody>
      </p:sp>
      <p:sp>
        <p:nvSpPr>
          <p:cNvPr id="19" name="h4-title"/>
          <p:cNvSpPr txBox="1"/>
          <p:nvPr/>
        </p:nvSpPr>
        <p:spPr>
          <a:xfrm>
            <a:off x="1422400" y="4787900"/>
            <a:ext cx="7010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50" b="1">
                <a:solidFill>
                  <a:srgbClr val="1C1F24"/>
                </a:solidFill>
                <a:latin typeface="MiSans"/>
                <a:ea typeface="MiSans"/>
              </a:rPr>
              <a:t>安全与合规</a:t>
            </a:r>
            <a:endParaRPr lang="en-US" sz="1550"/>
          </a:p>
        </p:txBody>
      </p:sp>
      <p:sp>
        <p:nvSpPr>
          <p:cNvPr id="20" name="h4-desc"/>
          <p:cNvSpPr txBox="1"/>
          <p:nvPr/>
        </p:nvSpPr>
        <p:spPr>
          <a:xfrm>
            <a:off x="1422400" y="5105400"/>
            <a:ext cx="7010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6A6F76"/>
                </a:solidFill>
                <a:latin typeface="MiSans"/>
                <a:ea typeface="MiSans"/>
              </a:rPr>
              <a:t>Argon2id 密码哈希、敏感数据 AES 加密、敏感词审核、审计脱敏；五类密钥相互独立、禁止复用。</a:t>
            </a:r>
            <a:endParaRPr lang="en-US" sz="1200"/>
          </a:p>
        </p:txBody>
      </p:sp>
      <p:sp>
        <p:nvSpPr>
          <p:cNvPr id="21" name="h4-line"/>
          <p:cNvSpPr/>
          <p:nvPr/>
        </p:nvSpPr>
        <p:spPr>
          <a:xfrm>
            <a:off x="812800" y="5613400"/>
            <a:ext cx="76200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22" name="h5-num"/>
          <p:cNvSpPr txBox="1"/>
          <p:nvPr/>
        </p:nvSpPr>
        <p:spPr>
          <a:xfrm>
            <a:off x="812800" y="57404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73F35"/>
                </a:solidFill>
                <a:latin typeface="Liter"/>
                <a:ea typeface="Liter"/>
              </a:rPr>
              <a:t>05</a:t>
            </a:r>
            <a:endParaRPr lang="en-US" sz="1600"/>
          </a:p>
        </p:txBody>
      </p:sp>
      <p:sp>
        <p:nvSpPr>
          <p:cNvPr id="23" name="h5-title"/>
          <p:cNvSpPr txBox="1"/>
          <p:nvPr/>
        </p:nvSpPr>
        <p:spPr>
          <a:xfrm>
            <a:off x="1422400" y="5753100"/>
            <a:ext cx="7010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50" b="1">
                <a:solidFill>
                  <a:srgbClr val="1C1F24"/>
                </a:solidFill>
                <a:latin typeface="MiSans"/>
                <a:ea typeface="MiSans"/>
              </a:rPr>
              <a:t>质量文化</a:t>
            </a:r>
            <a:endParaRPr lang="en-US" sz="1550"/>
          </a:p>
        </p:txBody>
      </p:sp>
      <p:sp>
        <p:nvSpPr>
          <p:cNvPr id="24" name="h5-desc"/>
          <p:cNvSpPr txBox="1"/>
          <p:nvPr/>
        </p:nvSpPr>
        <p:spPr>
          <a:xfrm>
            <a:off x="1422400" y="6070600"/>
            <a:ext cx="7010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6A6F76"/>
                </a:solidFill>
                <a:latin typeface="MiSans"/>
                <a:ea typeface="MiSans"/>
              </a:rPr>
              <a:t>809 + 98 项测试、68 项冒烟、6 个真实环境探针；验收必跑全量 pytest、契约 lint 与迁移升降级。</a:t>
            </a:r>
            <a:endParaRPr lang="en-US" sz="1200"/>
          </a:p>
        </p:txBody>
      </p:sp>
      <p:sp>
        <p:nvSpPr>
          <p:cNvPr id="25" name="quote-line"/>
          <p:cNvSpPr/>
          <p:nvPr/>
        </p:nvSpPr>
        <p:spPr>
          <a:xfrm>
            <a:off x="8890000" y="1905000"/>
            <a:ext cx="12700" cy="41910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26" name="quote"/>
          <p:cNvSpPr txBox="1"/>
          <p:nvPr/>
        </p:nvSpPr>
        <p:spPr>
          <a:xfrm>
            <a:off x="9245600" y="2540000"/>
            <a:ext cx="2184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60000"/>
              </a:lnSpc>
            </a:pPr>
            <a:r>
              <a:rPr lang="en-US" sz="1900">
                <a:solidFill>
                  <a:srgbClr val="1C1F24"/>
                </a:solidFill>
                <a:latin typeface="思源宋体"/>
                <a:ea typeface="思源宋体"/>
              </a:rPr>
              <a:t>把「能跑」做成「可信」。</a:t>
            </a:r>
            <a:endParaRPr lang="en-US" sz="1600"/>
          </a:p>
        </p:txBody>
      </p:sp>
      <p:sp>
        <p:nvSpPr>
          <p:cNvPr id="27" name="quote-sub"/>
          <p:cNvSpPr txBox="1"/>
          <p:nvPr/>
        </p:nvSpPr>
        <p:spPr>
          <a:xfrm>
            <a:off x="9245600" y="3708400"/>
            <a:ext cx="2184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6A6F76"/>
                </a:solidFill>
                <a:latin typeface="MiSans"/>
                <a:ea typeface="MiSans"/>
              </a:rPr>
              <a:t>—— 本项目工程实践的第一原则</a:t>
            </a:r>
            <a:endParaRPr lang="en-US" sz="1050"/>
          </a:p>
        </p:txBody>
      </p:sp>
      <p:sp>
        <p:nvSpPr>
          <p:cNvPr id="28" name="foot-left"/>
          <p:cNvSpPr txBox="1"/>
          <p:nvPr/>
        </p:nvSpPr>
        <p:spPr>
          <a:xfrm>
            <a:off x="8128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CampusPilot · 软件工程课程答辩</a:t>
            </a:r>
            <a:endParaRPr lang="en-US" sz="950"/>
          </a:p>
        </p:txBody>
      </p:sp>
      <p:sp>
        <p:nvSpPr>
          <p:cNvPr id="29" name="foot-page"/>
          <p:cNvSpPr txBox="1"/>
          <p:nvPr/>
        </p:nvSpPr>
        <p:spPr>
          <a:xfrm>
            <a:off x="10414000" y="65278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12 / 14</a:t>
            </a:r>
            <a:endParaRPr lang="en-US" sz="95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173F35"/>
                </a:solidFill>
                <a:latin typeface="Liter"/>
                <a:ea typeface="Liter"/>
              </a:rPr>
              <a:t>08 · 亮点与反思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C1F24"/>
                </a:solidFill>
                <a:latin typeface="MiSans"/>
                <a:ea typeface="MiSans"/>
              </a:rPr>
              <a:t>已知边界与下一步</a:t>
            </a:r>
            <a:endParaRPr lang="en-US" sz="2800"/>
          </a:p>
        </p:txBody>
      </p:sp>
      <p:sp>
        <p:nvSpPr>
          <p:cNvPr id="4" name="title-bar"/>
          <p:cNvSpPr/>
          <p:nvPr/>
        </p:nvSpPr>
        <p:spPr>
          <a:xfrm>
            <a:off x="812800" y="1473200"/>
            <a:ext cx="558800" cy="38100"/>
          </a:xfrm>
          <a:prstGeom prst="rect">
            <a:avLst/>
          </a:prstGeom>
          <a:solidFill>
            <a:srgbClr val="173F35"/>
          </a:solidFill>
          <a:ln>
            <a:noFill/>
          </a:ln>
        </p:spPr>
      </p:sp>
      <p:sp>
        <p:nvSpPr>
          <p:cNvPr id="5" name="title-line"/>
          <p:cNvSpPr/>
          <p:nvPr/>
        </p:nvSpPr>
        <p:spPr>
          <a:xfrm>
            <a:off x="812800" y="1600200"/>
            <a:ext cx="10566400" cy="12700"/>
          </a:xfrm>
          <a:prstGeom prst="rect">
            <a:avLst/>
          </a:prstGeom>
          <a:solidFill>
            <a:srgbClr val="DFDCD3"/>
          </a:solidFill>
          <a:ln>
            <a:noFill/>
          </a:ln>
        </p:spPr>
      </p:sp>
      <p:sp>
        <p:nvSpPr>
          <p:cNvPr id="6" name="lim-label"/>
          <p:cNvSpPr txBox="1"/>
          <p:nvPr/>
        </p:nvSpPr>
        <p:spPr>
          <a:xfrm>
            <a:off x="812800" y="1930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C2562F"/>
                </a:solidFill>
                <a:latin typeface="MiSans"/>
                <a:ea typeface="MiSans"/>
              </a:rPr>
              <a:t>不足（如实呈现）</a:t>
            </a:r>
            <a:endParaRPr lang="en-US" sz="1400"/>
          </a:p>
        </p:txBody>
      </p:sp>
      <p:sp>
        <p:nvSpPr>
          <p:cNvPr id="7" name="lim-list"/>
          <p:cNvSpPr txBox="1"/>
          <p:nvPr/>
        </p:nvSpPr>
        <p:spPr>
          <a:xfrm>
            <a:off x="812800" y="2336800"/>
            <a:ext cx="4826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训练硬件受限</a:t>
            </a:r>
            <a:endParaRPr lang="en-US" sz="125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QLoRA 依赖 CUDA + bitsandbytes，本机仅 CPU，任务稳定拒绝而非伪造产物。</a:t>
            </a:r>
            <a:endParaRPr lang="en-US" sz="125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模型评估维度有限</a:t>
            </a:r>
            <a:endParaRPr lang="en-US" sz="125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本地评估目前仅覆盖 LoRA 产物前向损失对比。</a:t>
            </a:r>
            <a:endParaRPr lang="en-US" sz="125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边界场景待办</a:t>
            </a:r>
            <a:endParaRPr lang="en-US" sz="125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超长输入（&gt;1000 字）的 Run 恢复保真、审批到期协调仍为显式待办。</a:t>
            </a:r>
            <a:endParaRPr lang="en-US" sz="125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检索质量有上限</a:t>
            </a:r>
            <a:endParaRPr lang="en-US" sz="125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bge-small 模型能力有限，阈值经实测由 0.62 校准至 0.35；电费为标注模拟数据。</a:t>
            </a:r>
            <a:endParaRPr lang="en-US" sz="1250"/>
          </a:p>
        </p:txBody>
      </p:sp>
      <p:sp>
        <p:nvSpPr>
          <p:cNvPr id="8" name="thick-div"/>
          <p:cNvSpPr/>
          <p:nvPr/>
        </p:nvSpPr>
        <p:spPr>
          <a:xfrm>
            <a:off x="5994400" y="1981200"/>
            <a:ext cx="38100" cy="4064000"/>
          </a:xfrm>
          <a:prstGeom prst="rect">
            <a:avLst/>
          </a:prstGeom>
          <a:solidFill>
            <a:srgbClr val="C2562F"/>
          </a:solidFill>
          <a:ln>
            <a:noFill/>
          </a:ln>
        </p:spPr>
      </p:sp>
      <p:sp>
        <p:nvSpPr>
          <p:cNvPr id="9" name="next-label"/>
          <p:cNvSpPr txBox="1"/>
          <p:nvPr/>
        </p:nvSpPr>
        <p:spPr>
          <a:xfrm>
            <a:off x="6604000" y="19304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73F35"/>
                </a:solidFill>
                <a:latin typeface="MiSans"/>
                <a:ea typeface="MiSans"/>
              </a:rPr>
              <a:t>下一步计划</a:t>
            </a:r>
            <a:endParaRPr lang="en-US" sz="1400"/>
          </a:p>
        </p:txBody>
      </p:sp>
      <p:sp>
        <p:nvSpPr>
          <p:cNvPr id="10" name="next-list"/>
          <p:cNvSpPr txBox="1"/>
          <p:nvPr/>
        </p:nvSpPr>
        <p:spPr>
          <a:xfrm>
            <a:off x="6604000" y="2336800"/>
            <a:ext cx="47752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GPU 环境跑通 QLoRA</a:t>
            </a:r>
            <a:endParaRPr lang="en-US" sz="125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完成真实训练链路与更完整的模型评估维度。</a:t>
            </a:r>
            <a:endParaRPr lang="en-US" sz="125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补全边界处理</a:t>
            </a:r>
            <a:endParaRPr lang="en-US" sz="125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完善 Run 恢复状态还原与审批到期的协调策略。</a:t>
            </a:r>
            <a:endParaRPr lang="en-US" sz="125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提升 RAG 召回质量</a:t>
            </a:r>
            <a:endParaRPr lang="en-US" sz="125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引入更强中文嵌入模型 / 重排序（Rerank）环节。</a:t>
            </a:r>
            <a:endParaRPr lang="en-US" sz="125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b="1">
                <a:solidFill>
                  <a:srgbClr val="1C1F24"/>
                </a:solidFill>
                <a:latin typeface="MiSans"/>
                <a:ea typeface="MiSans"/>
              </a:rPr>
              <a:t>走向长期可用</a:t>
            </a:r>
            <a:endParaRPr lang="en-US" sz="125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250">
                <a:solidFill>
                  <a:srgbClr val="1C1F24"/>
                </a:solidFill>
                <a:latin typeface="MiSans"/>
                <a:ea typeface="MiSans"/>
              </a:rPr>
              <a:t>补充压力测试与性能基线，接入真实运营数据试点。</a:t>
            </a:r>
            <a:endParaRPr lang="en-US" sz="1250"/>
          </a:p>
        </p:txBody>
      </p:sp>
      <p:sp>
        <p:nvSpPr>
          <p:cNvPr id="11" name="foot-left"/>
          <p:cNvSpPr txBox="1"/>
          <p:nvPr/>
        </p:nvSpPr>
        <p:spPr>
          <a:xfrm>
            <a:off x="8128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CampusPilot · 软件工程课程答辩</a:t>
            </a:r>
            <a:endParaRPr lang="en-US" sz="950"/>
          </a:p>
        </p:txBody>
      </p:sp>
      <p:sp>
        <p:nvSpPr>
          <p:cNvPr id="12" name="foot-page"/>
          <p:cNvSpPr txBox="1"/>
          <p:nvPr/>
        </p:nvSpPr>
        <p:spPr>
          <a:xfrm>
            <a:off x="10414000" y="65278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A6F76"/>
                </a:solidFill>
                <a:latin typeface="MiSans"/>
                <a:ea typeface="MiSans"/>
              </a:rPr>
              <a:t>13 / 14</a:t>
            </a:r>
            <a:endParaRPr lang="en-US" sz="95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"/>
          <p:cNvSpPr txBox="1"/>
          <p:nvPr/>
        </p:nvSpPr>
        <p:spPr>
          <a:xfrm>
            <a:off x="812800" y="2413000"/>
            <a:ext cx="105664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5800" b="1">
                <a:solidFill>
                  <a:srgbClr val="FFFFFF"/>
                </a:solidFill>
                <a:latin typeface="Liter"/>
                <a:ea typeface="Liter"/>
              </a:rPr>
              <a:t>Q &amp; A</a:t>
            </a:r>
            <a:endParaRPr lang="en-US" sz="1600"/>
          </a:p>
        </p:txBody>
      </p:sp>
      <p:sp>
        <p:nvSpPr>
          <p:cNvPr id="3" name="thanks"/>
          <p:cNvSpPr txBox="1"/>
          <p:nvPr/>
        </p:nvSpPr>
        <p:spPr>
          <a:xfrm>
            <a:off x="812800" y="3632200"/>
            <a:ext cx="10566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恳请各位老师、同学批评指正</a:t>
            </a:r>
            <a:endParaRPr lang="en-US" sz="1600"/>
          </a:p>
        </p:txBody>
      </p:sp>
      <p:sp>
        <p:nvSpPr>
          <p:cNvPr id="4" name="final-line"/>
          <p:cNvSpPr/>
          <p:nvPr/>
        </p:nvSpPr>
        <p:spPr>
          <a:xfrm>
            <a:off x="5461000" y="4318000"/>
            <a:ext cx="1270000" cy="12700"/>
          </a:xfrm>
          <a:prstGeom prst="rect">
            <a:avLst/>
          </a:prstGeom>
          <a:solidFill>
            <a:srgbClr val="FFFFFF">
              <a:alpha val="33333"/>
            </a:srgbClr>
          </a:solidFill>
          <a:ln>
            <a:noFill/>
          </a:ln>
        </p:spPr>
      </p:sp>
      <p:sp>
        <p:nvSpPr>
          <p:cNvPr id="5" name="repo"/>
          <p:cNvSpPr txBox="1"/>
          <p:nvPr/>
        </p:nvSpPr>
        <p:spPr>
          <a:xfrm>
            <a:off x="812800" y="45720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FFFFFF">
                    <a:alpha val="70196"/>
                  </a:srgbClr>
                </a:solidFill>
                <a:latin typeface="Liter"/>
                <a:ea typeface="Liter"/>
              </a:rPr>
              <a:t>github.com/Doggod727/CampusPilot</a:t>
            </a:r>
            <a:endParaRPr lang="en-US" sz="1600"/>
          </a:p>
        </p:txBody>
      </p:sp>
      <p:sp>
        <p:nvSpPr>
          <p:cNvPr id="6" name="final-foot"/>
          <p:cNvSpPr txBox="1"/>
          <p:nvPr/>
        </p:nvSpPr>
        <p:spPr>
          <a:xfrm>
            <a:off x="812800" y="63500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FFFFFF">
                    <a:alpha val="50196"/>
                  </a:srgbClr>
                </a:solidFill>
                <a:latin typeface="MiSans"/>
                <a:ea typeface="MiSans"/>
              </a:rPr>
              <a:t>CampusPilot · 学生生活一站式社区 AI 助手 · 2026 年 7 月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